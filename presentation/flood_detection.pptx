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talk is about a specific and practical problem: automated screening of street-level images for flood detection. We built a two-phase fine-tuned classifier and found two problems that had to be fixed before the system was fit for purpose. First, the standard evaluation metrics — accuracy and ROC-AUC — actively misled us. Second, visual confounders (rivers, retention ponds) caused most of the false alarms. This talk covers both problems and the Phase-1 Hard Negative Mining approach we used to address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Floods kill roughly 10,000 people per year globally and cause hundreds of billions in economic damage. After a flood event, citizen science platforms receive thousands of street-level photos from community members. A first-pass screener routes flood images to risk models and human review, and archives the rest. But the screener must be recall-first: a missed flood means a neighborhood never gets flagged. A false alarm costs a reviewer one click. These are not equivalent failure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failure mode. EfficientNet's 7 false positives in the baseline were all river photographs — taken from bridges or embankments where the reflective surface, ripple pattern, and cropped horizon are visually indistinguishable from a flooded street. The model isn't broken. It's responding to the correct visual features, just in the wrong context. Other potential confounders — swimming pools, wet roads, park fountains — produced zero false positives, though we'll see why 'zero' needs careful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is the default metric for classification, but it's wrong here. With roughly 84% non-flood images in validation, a model that labels everything non-flood achieves 84% accuracy. The two-class imbalance means accuracy is dominated by the majority class. ROC-AUC integrates over all operating thresholds, including very low false positive rate regions that don't reflect real deployment. PR-AUC integrates precision against recall — both axes directly relevant to flood detection. The 3.6-point PR-AUC gap between EfficientNet and ResNet50 corresponds to 56 missed floods in a single 819-image validation set. That's the metric we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sub-questions structure the paper. First, architecture and loss function: EfficientNetB0 vs ResNet50, BCE vs Focal loss — which combination preserves recall on imbalanced flood data? Second, evaluation metrics: which metric correctly ranks models for a recall-first screener? Third, the core HNM question: does mining from the Phase-1 checkpoint outperform just training longer or adding random data from the same categories? The ablation controls are key — they isolate what's actually driving the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dataset has 4,099 street-level images. Roughly 40% are flood-positive, which is more balanced than a real deployment scenario but reflects intentional curation for training. The 11 fine-grained categories span 7 flood subtypes and 4 non-flood subtypes. The two water confounders — rivers/streams and swimming pools/ponds — are the primary concern for false positives because they share visual features with flood scenes. The two street confounders (wet road, dry street) are included as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two-phase training strategy is standard progressive fine-tuning. In Phase 1 we unfreeze the top 30 layers and the classification head, training at learning rate 1e-4. The model improves quickly but retains uncertainty about visually ambiguous categories. In Phase 2 we unfreeze all layers and reduce the learning rate to 1e-5, driving the model to convergence. The key insight: by the end of Phase 2, every non-flood training image has been assigned near-zero flood probability. There are no candidates to mine. Phase 1 is the right moment to collect hard negatives — the model has learned enough to identify difficult examples but hasn't yet resolved its uncertainty about rivers and pools.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models achieve roughly 98% accuracy. But EfficientNet has 7 false negatives — 7 missed floods — while ResNet50 has 63. That's the same accuracy masking a 17.4 percentage-point gap in flood recall: 97.8% versus 80.4%. The large non-flood majority dominates accuracy's denominator, making ResNet50 appear slightly better (98.5% vs 98.3%) despite missing nearly 9 times as many floods. This is why accuracy is the wrong metric — it actively inverted the ranking. For the ablation experiments, we use EfficientNetB0 with BCE loss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 at the two panels. Left is EfficientNet, right is ResNet50. The ROC curves look reasonably similar — both hug the top-left corner. The ROC-AUC gap is 2.6 points. The PR curves tell a different story: EfficientNet's precision-recall curve stays near 1.0 across most of the recall range. ResNet50's drops steeply. The PR-AUC gap is 3.6 points. That 3.6-point difference corresponds to 56 missed flood reports in a single 819-image validation set. The PR-AUC correctly identified EfficientNet as the better model for this task. ROC-AUC gave the right answer here too, but the gap looks smaller and the intuitive connection to missed floods is harder to make. PR-AUC should be the standard metric for any flood screening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heatmap shows false positive rates by category and model condition. River scenes are the only category producing false positives at the 0.5 decision threshold. EfficientNet BCE: 9.2% river FP rate, with a Clopper-Pearson 95% CI of [3.8%, 17.7%]. That CI is wide because we have 76 river images — 7 false positives. All other categories show zero false positives. But 'zero' on swimming pools, with only 28 images, gives a 95% CI upper bound of 12.3%. We cannot conclude the model is robust to pools — we lack statistical power. Before deployment, expanding water-confounder validation sets is a data collection priority, not a modeling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panels show the PR-ROC curves for baseline, extended training, random injection, and P1-HNM. The strict ordering in accuracy improvement: baseline to random injection adds 0.12 percentage points — some benefit from exposure to the confounder categories. Extended training adds 0.37 pp — more compute helps beyond more data. P1-HNM adds 0.49 pp — difficulty ranking adds something beyond category exposure and training budget alone. Each comparison isolates one variable. Random injection versus extended: is it the data or the epochs? Both get the same epoch budget. P1-HNM versus random: same count, same categories, same budget — only the difficulty ranking differs. The ordering is consistent with the hypothesis that Phase-1 uncertainty identifies genuinely harder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conclusions. One: use EfficientNetB0. The recall gap versus ResNet50 is 17 percentage points; accuracy hid this. Two: use PR-AUC. It correctly ranks models for recall-first screening and quantifies the gap in terms of missed floods. Three: Phase-1 HNM works — it strictly outperforms extended training and random injection. Four: river remains the dominant confounder; pool robustness cannot be confirmed at N=28. These findings have direct implications for how flood screening systems should be trained and evaluated.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directions. First and most urgent: expand validation data for water confounders. This is a data problem, not a modeling problem. Second: make per-category CIs a standard part of evaluation reporting — flag categories where the upper bound exceeds 5%. Third: investigate iterative HNM across multiple checkpoints. We only applied it once. Fourth: test geographic generalisation — Pinellas County rivers look different from Pacific Northwest rivers or UK canals. Fifth: calibrate the decision threshold. We used 0.5; for a recall-first deployment you'd choose the threshold on the PR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 collaborators and funding as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reference numbers during Q&amp;A:</a:t>
            </a:r>
          </a:p>
          <a:p>
            <a:r>
              <a:t>- EfficientNet flood recall 97.8% vs ResNet50 80.4% (both ~98.5% accuracy)</a:t>
            </a:r>
          </a:p>
          <a:p>
            <a:r>
              <a:t>- PR-AUC gap 3.6 pts = 56 missed floods in 819-image validation set</a:t>
            </a:r>
          </a:p>
          <a:p>
            <a:r>
              <a:t>- River FP: 9.2% [3.8%, 17.7%] Clopper-Pearson 95% CI, N=76</a:t>
            </a:r>
          </a:p>
          <a:p>
            <a:r>
              <a:t>- Accuracy gains: P1-HNM +0.49 pp, Extended +0.37 pp, Random +0.12 pp</a:t>
            </a:r>
          </a:p>
          <a:p>
            <a:r>
              <a:t>- Pool 'zero' at N=28 → upper CI bound 12.3% — not robust</a:t>
            </a:r>
          </a:p>
          <a:p>
            <a:r>
              <a:t>- Phase-1 mining fraction: top 10% by flood probability, 5× augmentation each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640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mbria"/>
              </a:rPr>
              <a:t>Confounder-Robust Flood Detection</a:t>
            </a:r>
          </a:p>
          <a:p>
            <a:pPr algn="ctr"/>
            <a:r>
              <a:rPr sz="3800" b="1" i="0">
                <a:solidFill>
                  <a:srgbClr val="FFFFFF"/>
                </a:solidFill>
                <a:latin typeface="Cambria"/>
              </a:rPr>
              <a:t>from Street-Level Imagery</a:t>
            </a:r>
          </a:p>
          <a:p>
            <a:pPr algn="ctr"/>
            <a:r>
              <a:rPr sz="3800" b="1" i="0">
                <a:solidFill>
                  <a:srgbClr val="FFFFFF"/>
                </a:solidFill>
                <a:latin typeface="Cambria"/>
              </a:rPr>
              <a:t>via Phase-1 Hard Negative Mining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3703320"/>
            <a:ext cx="6309360" cy="5486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BB8D4"/>
                </a:solidFill>
                <a:latin typeface="Calibri"/>
              </a:rPr>
              <a:t>Computers &amp; Geosciences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BB8D4"/>
                </a:solidFill>
                <a:latin typeface="Calibri"/>
              </a:rPr>
              <a:t>Aanya Singh  ·  University of South Florida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Abbreviations: PR-AUC = Precision-Recall Area Under Curve  ·  ROC-AUC = Receiver Operating Characteristic AUC</a:t>
            </a:r>
          </a:p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HNM = Hard Negative Mining  ·  P1-HNM = Phase-1 Hard Negative Mining  ·  FP = False Positive  ·  FN = False Negative  ·  BCE = Binary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Floods demand fast, reliable automated screening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3749039" cy="1828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~10,000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deaths/year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from floods globally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(EM-DAT, CRED)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234440"/>
            <a:ext cx="731520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234440"/>
            <a:ext cx="73152" cy="114300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307592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  <a:latin typeface="Calibri"/>
              </a:rPr>
              <a:t>Citizen science platforms receive thousands of images after flood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70992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Human review of every submission does not scale at disaster speed.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560320"/>
            <a:ext cx="731520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2560320"/>
            <a:ext cx="73152" cy="114300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633472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  <a:latin typeface="Calibri"/>
              </a:rPr>
              <a:t>Street-level imagery is now ubiquitous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3580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Smartphones + dashcams provide ground-truth that satellite imagery misses under clouds.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3886200"/>
            <a:ext cx="731520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3886200"/>
            <a:ext cx="73152" cy="114300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959352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  <a:latin typeface="Calibri"/>
              </a:rPr>
              <a:t>First-pass screening enables triage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36168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Route flood images to risk models; route non-floods to archive. Saves analyst 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 reliable screener must maximise recall — a missed flood means a neighbourhood goes unreported.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Visual confounders are the dominant failure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B8D4"/>
                </a:solidFill>
                <a:latin typeface="Calibri"/>
              </a:rPr>
              <a:t>EfficientNetB0 baseline — false positives and false negatives</a:t>
            </a:r>
          </a:p>
        </p:txBody>
      </p:sp>
      <p:pic>
        <p:nvPicPr>
          <p:cNvPr id="7" name="Picture 6" descr="fp_f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7 FPs were river scenes. At close range, reflective water texture is visually identical to a flooded road.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Standard metrics overstate performance on imbalanced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94960" cy="2926080"/>
          </a:xfrm>
          <a:prstGeom prst="rect">
            <a:avLst/>
          </a:prstGeom>
          <a:solidFill>
            <a:srgbClr val="FFFFFF"/>
          </a:solidFill>
          <a:ln>
            <a:solidFill>
              <a:srgbClr val="2E7D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7D9C"/>
                </a:solidFill>
                <a:latin typeface="Cambria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3A5C"/>
                </a:solidFill>
                <a:latin typeface="Calibri"/>
              </a:rPr>
              <a:t>Acc = (TP + TN) / 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97480"/>
            <a:ext cx="5029200" cy="3657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Dominated by the large non-flood majority.</a:t>
            </a:r>
          </a:p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A model that labels everything non-flood scores ~84%.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5394960" cy="2926080"/>
          </a:xfrm>
          <a:prstGeom prst="rect">
            <a:avLst/>
          </a:prstGeom>
          <a:solidFill>
            <a:srgbClr val="2E7D9C"/>
          </a:solidFill>
          <a:ln>
            <a:solidFill>
              <a:srgbClr val="2E7D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25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</a:rPr>
              <a:t>PR-AUC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Precision × Recall trade-off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integrated over all thresholds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697480"/>
            <a:ext cx="5029200" cy="3657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8346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Penalises missed floods (recall axis)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and false alarms (precision axis).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3317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07B39"/>
                </a:solidFill>
                <a:latin typeface="Calibri"/>
              </a:rPr>
              <a:t>vs.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434840"/>
            <a:ext cx="11430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ROC-AUC also misleads: it averages performance over all thresholds including low-FP-rate regions that rarely matter in practice. A 2.6-pt ROC-AUC gap between EfficientNet and ResNet50 hid 56 missed flood reports that a 3.6-pt PR-AUC gap correctly flagged.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PR-AUC is the appropriate primary metric for a recall-first flood screener.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640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07B39"/>
                </a:solidFill>
                <a:latin typeface="Cambria"/>
              </a:rPr>
              <a:t>Research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463040"/>
            <a:ext cx="9966960" cy="29260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Can targeted hard negative mining from an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intermediate training checkpoint reduce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false alarms from visual confounders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(rivers, pools) without sacrificing flood recall?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663440"/>
            <a:ext cx="9966960" cy="475488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4709160"/>
            <a:ext cx="9509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BB8D4"/>
                </a:solidFill>
                <a:latin typeface="Calibri"/>
              </a:rPr>
              <a:t>1.  Which architecture and loss function best preserves recall?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230368"/>
            <a:ext cx="9966960" cy="475488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5276088"/>
            <a:ext cx="9509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BB8D4"/>
                </a:solidFill>
                <a:latin typeface="Calibri"/>
              </a:rPr>
              <a:t>2.  Which evaluation metric correctly ranks models for this task?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5797296"/>
            <a:ext cx="9966960" cy="475488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5843016"/>
            <a:ext cx="9509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BB8D4"/>
                </a:solidFill>
                <a:latin typeface="Calibri"/>
              </a:rPr>
              <a:t>3.  Does difficulty-ranked mining outperform extended training and random injection?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Dataset: 4,099 street-level images across 11 fine-grained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474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  <a:latin typeface="Calibri"/>
              </a:rPr>
              <a:t>Total images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234440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325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4,099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92808"/>
            <a:ext cx="3474720" cy="5669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8424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  <a:latin typeface="Calibri"/>
              </a:rPr>
              <a:t>Flood (positive)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892808"/>
            <a:ext cx="3840480" cy="5669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9842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1,657  (40.4%)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51176"/>
            <a:ext cx="3474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42616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  <a:latin typeface="Calibri"/>
              </a:rPr>
              <a:t>Non-flood (negative)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2551176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26426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2,442  (59.6%)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209544"/>
            <a:ext cx="3474720" cy="5669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0098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  <a:latin typeface="Calibri"/>
              </a:rPr>
              <a:t>Train / Val / 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3209544"/>
            <a:ext cx="3840480" cy="5669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330098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2,870 / 819 / 410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67912"/>
            <a:ext cx="3474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95935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  <a:latin typeface="Calibri"/>
              </a:rPr>
              <a:t>Image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3867912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39593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2C2C"/>
                </a:solidFill>
                <a:latin typeface="Calibri"/>
              </a:rPr>
              <a:t>CRIS-HAZARD + open datasets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1234440"/>
            <a:ext cx="3840480" cy="36576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7" y="129844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Flood categories (7)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79" y="1600200"/>
            <a:ext cx="38404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59" y="16459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Urban flood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1947672"/>
            <a:ext cx="3840480" cy="3383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59" y="199339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Rural flood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2295144"/>
            <a:ext cx="38404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59" y="234086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Highway flood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2642616"/>
            <a:ext cx="3840480" cy="3383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9" y="268833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Building flood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2990088"/>
            <a:ext cx="38404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59" y="30358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Car flood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3337560"/>
            <a:ext cx="3840480" cy="3383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59" y="33832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Infrastructure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55279" y="3685032"/>
            <a:ext cx="38404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8159" y="37307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Debris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3429000"/>
            <a:ext cx="3840480" cy="36576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7" y="349300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Water confounders (2)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5279" y="3794760"/>
            <a:ext cx="38404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8159" y="38404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River / stream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79" y="4142232"/>
            <a:ext cx="3840480" cy="3383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59" y="41879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Swimming pool / pond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5279" y="4892040"/>
            <a:ext cx="3840480" cy="36576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65007" y="495604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Street confounders (2)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55279" y="5257800"/>
            <a:ext cx="38404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59" y="53035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Wet road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55279" y="5605272"/>
            <a:ext cx="3840480" cy="338328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38159" y="565099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•  Street (dry)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Two water-confounder categories (river, pool) are the primary evaluation targets for false positive analysis.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Two-phase progressive fine-tuning preserves mining signal at Phase-1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2606040" cy="347472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430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517904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Top 30 layers unfrozen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LR = 1×10⁻⁴  ·  ≤15 epochs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Classification head + upper backbone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09728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097280"/>
            <a:ext cx="2606040" cy="347472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1430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1517904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All layers unfrozen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LR = 1×10⁻⁵  ·  ≤15 epochs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Full fine-tuning to convergence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097280"/>
            <a:ext cx="2606040" cy="141732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097280"/>
            <a:ext cx="26060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1430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P1-HNM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517904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Mine top-10% FP candidates from M₁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5× augmentation per candidate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Retrain from Phase-2 checkpoint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160020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07B39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160020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07B39"/>
                </a:solidFill>
                <a:latin typeface="Calibri"/>
              </a:rPr>
              <a:t>→</a:t>
            </a:r>
          </a:p>
        </p:txBody>
      </p:sp>
      <p:pic>
        <p:nvPicPr>
          <p:cNvPr id="20" name="Picture 19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651760"/>
            <a:ext cx="8732520" cy="35661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235440" y="2651760"/>
            <a:ext cx="260604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2E7D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788920"/>
            <a:ext cx="2331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3A5C"/>
                </a:solidFill>
                <a:latin typeface="Calibri"/>
              </a:rPr>
              <a:t>Key insight</a:t>
            </a:r>
          </a:p>
          <a:p>
            <a:pPr algn="l"/>
            <a:r>
              <a:rPr sz="1200" b="0" i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1A3A5C"/>
                </a:solidFill>
                <a:latin typeface="Calibri"/>
              </a:rPr>
              <a:t>By Phase-2 convergence, all non-flood images have near-zero flood probability.</a:t>
            </a:r>
          </a:p>
          <a:p>
            <a:pPr algn="l"/>
            <a:r>
              <a:rPr sz="1200" b="0" i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1A3A5C"/>
                </a:solidFill>
                <a:latin typeface="Calibri"/>
              </a:rPr>
              <a:t>Phase-1 retains genuine uncertainty on river/pool images.</a:t>
            </a:r>
          </a:p>
          <a:p>
            <a:pPr algn="l"/>
            <a:r>
              <a:rPr sz="1200" b="0" i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1A3A5C"/>
                </a:solidFill>
                <a:latin typeface="Calibri"/>
              </a:rPr>
              <a:t>That uncertainty is the mining signal.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Mine hard negatives from Phase-1 checkpoint (M₁), not the converged model — the signal disappears at convergence.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EfficientNetB0 detects 9× more floods than ResNet50 at equal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56616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C2C2C"/>
                </a:solidFill>
                <a:latin typeface="Cambria"/>
              </a:rPr>
              <a:t>98.3%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556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5555"/>
                </a:solidFill>
                <a:latin typeface="Calibri"/>
              </a:rPr>
              <a:t>EfficientNetB0</a:t>
            </a:r>
          </a:p>
          <a:p>
            <a:pPr algn="ctr"/>
            <a:r>
              <a:rPr sz="1200" b="1" i="0">
                <a:solidFill>
                  <a:srgbClr val="555555"/>
                </a:solidFill>
                <a:latin typeface="Calibri"/>
              </a:rP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7 FN, 7 FP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097280"/>
            <a:ext cx="356616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17043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03030"/>
                </a:solidFill>
                <a:latin typeface="Cambria"/>
              </a:rPr>
              <a:t>98.5%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7556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5555"/>
                </a:solidFill>
                <a:latin typeface="Calibri"/>
              </a:rPr>
              <a:t>ResNet50</a:t>
            </a:r>
          </a:p>
          <a:p>
            <a:pPr algn="ctr"/>
            <a:r>
              <a:rPr sz="1200" b="1" i="0">
                <a:solidFill>
                  <a:srgbClr val="555555"/>
                </a:solidFill>
                <a:latin typeface="Calibri"/>
              </a:rP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10312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63 FN, 17 FP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097280"/>
            <a:ext cx="356616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17043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E7D9C"/>
                </a:solidFill>
                <a:latin typeface="Cambria"/>
              </a:rPr>
              <a:t>17.4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7556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5555"/>
                </a:solidFill>
                <a:latin typeface="Calibri"/>
              </a:rPr>
              <a:t>Flood recall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0312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EfficientNet: 97.8%</a:t>
            </a:r>
          </a:p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ResNet50: 80.4%</a:t>
            </a:r>
          </a:p>
        </p:txBody>
      </p:sp>
      <p:pic>
        <p:nvPicPr>
          <p:cNvPr id="18" name="Picture 1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14600"/>
            <a:ext cx="5303520" cy="3520440"/>
          </a:xfrm>
          <a:prstGeom prst="rect">
            <a:avLst/>
          </a:prstGeom>
        </p:spPr>
      </p:pic>
      <p:pic>
        <p:nvPicPr>
          <p:cNvPr id="19" name="Picture 18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14600"/>
            <a:ext cx="5303520" cy="35204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05332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EfficientNetB0 (BCE)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05332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ResNet50 (BCE)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Same accuracy, 9× more missed floods. Accuracy actively inverted the model ranking. Use EfficientNetB0.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PR-AUC exposes 56 missed floods that accuracy and ROC-AUC hide</a:t>
            </a:r>
          </a:p>
        </p:txBody>
      </p:sp>
      <p:pic>
        <p:nvPicPr>
          <p:cNvPr id="6" name="Picture 5" descr="pr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669280" cy="4663440"/>
          </a:xfrm>
          <a:prstGeom prst="rect">
            <a:avLst/>
          </a:prstGeom>
        </p:spPr>
      </p:pic>
      <p:pic>
        <p:nvPicPr>
          <p:cNvPr id="7" name="Picture 6" descr="pr_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66928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80644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EfficientNetB0 (BCE)  ·  PR-AUC = 0.9976  ·  ROC-AUC = 0.9985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80644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ResNet50 (BCE)  ·  PR-AUC = 0.9614  ·  ROC-AUC = 0.9728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PR-AUC gap: 3.6 pts = 56 more missed floods. ROC-AUC gap: 2.6 pts. PR-AUC is the right metric.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River is the only confounder that produces false alarms</a:t>
            </a:r>
          </a:p>
        </p:txBody>
      </p:sp>
      <p:pic>
        <p:nvPicPr>
          <p:cNvPr id="6" name="Picture 5" descr="confounder_f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22960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732520" y="1097280"/>
            <a:ext cx="3108960" cy="2468880"/>
          </a:xfrm>
          <a:prstGeom prst="rect">
            <a:avLst/>
          </a:prstGeom>
          <a:solidFill>
            <a:srgbClr val="FFFFFF"/>
          </a:solidFill>
          <a:ln>
            <a:solidFill>
              <a:srgbClr val="2E7D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188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9C"/>
                </a:solidFill>
                <a:latin typeface="Cambria"/>
              </a:rPr>
              <a:t>River FP rate</a:t>
            </a:r>
          </a:p>
          <a:p>
            <a:pPr algn="l"/>
            <a:r>
              <a:rPr sz="1300" b="1" i="0">
                <a:solidFill>
                  <a:srgbClr val="2E7D9C"/>
                </a:solidFill>
                <a:latin typeface="Cambria"/>
              </a:rPr>
              <a:t>(EfficientNet BCE)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7830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07B39"/>
                </a:solidFill>
                <a:latin typeface="Cambria"/>
              </a:rPr>
              <a:t>9.2%</a:t>
            </a:r>
          </a:p>
          <a:p>
            <a:pPr algn="ctr"/>
            <a:r>
              <a:rPr sz="2200" b="1" i="0">
                <a:solidFill>
                  <a:srgbClr val="E07B39"/>
                </a:solidFill>
                <a:latin typeface="Cambria"/>
              </a:rPr>
              <a:t>[3.8%, 17.7%]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88036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Clopper-Pearson 95% CI</a:t>
            </a:r>
          </a:p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7 FP / 76 river images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32520" y="3749039"/>
            <a:ext cx="310896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3840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mbria"/>
              </a:rPr>
              <a:t>All other categories</a:t>
            </a:r>
          </a:p>
          <a:p>
            <a:pPr algn="l"/>
            <a:r>
              <a:rPr sz="1300" b="1" i="0">
                <a:solidFill>
                  <a:srgbClr val="2C2C2C"/>
                </a:solidFill>
                <a:latin typeface="Cambria"/>
              </a:rPr>
              <a:t>(both models)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438912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A"/>
                </a:solidFill>
                <a:latin typeface="Calibri"/>
              </a:rPr>
              <a:t>0.0%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12064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  <a:latin typeface="Calibri"/>
              </a:rPr>
              <a:t>"Zero" on pools (N=28):</a:t>
            </a:r>
          </a:p>
          <a:p>
            <a:pPr algn="l"/>
            <a:r>
              <a:rPr sz="1100" b="0" i="0">
                <a:solidFill>
                  <a:srgbClr val="C03030"/>
                </a:solidFill>
                <a:latin typeface="Calibri"/>
              </a:rPr>
              <a:t>95% CI upper bound = 12.3%</a:t>
            </a:r>
          </a:p>
          <a:p>
            <a:pPr algn="l"/>
            <a:r>
              <a:rPr sz="1100" b="0" i="0">
                <a:solidFill>
                  <a:srgbClr val="C03030"/>
                </a:solidFill>
                <a:latin typeface="Calibri"/>
              </a:rPr>
              <a:t>Not confirmed robust.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River: 9.2% FP [3.8%, 17.7%]. Pool "zero" at N=28 is uninformative — upper CI bound = 12.3%.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HNM outperforms extended training and random injection</a:t>
            </a:r>
          </a:p>
        </p:txBody>
      </p:sp>
      <p:pic>
        <p:nvPicPr>
          <p:cNvPr id="6" name="Picture 5" descr="pr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39496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6301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Baseline (EfficientNet BCE)</a:t>
            </a:r>
          </a:p>
        </p:txBody>
      </p:sp>
      <p:pic>
        <p:nvPicPr>
          <p:cNvPr id="8" name="Picture 7" descr="pr_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43000"/>
            <a:ext cx="5394960" cy="2468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6301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Extended training (+epochs)</a:t>
            </a:r>
          </a:p>
        </p:txBody>
      </p:sp>
      <p:pic>
        <p:nvPicPr>
          <p:cNvPr id="10" name="Picture 9" descr="pr_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794760"/>
            <a:ext cx="539496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28192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Random injection (same N)</a:t>
            </a:r>
          </a:p>
        </p:txBody>
      </p:sp>
      <p:pic>
        <p:nvPicPr>
          <p:cNvPr id="12" name="Picture 11" descr="pr_roc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794760"/>
            <a:ext cx="5394960" cy="2468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628192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P1-HNM ★ (difficulty-ranked)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794760"/>
            <a:ext cx="5394960" cy="25603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82219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P1-HNM ★ (difficulty-ranked)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155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Accuracy gain:  Baseline → Random (+0.12 pp) → Extended (+0.37 pp) → P1-HNM (+0.49 pp)  |  Each step isolates one variable — data volume, category exposure, difficulty ranking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153912"/>
            <a:ext cx="11155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Strict ordering holds: P1-HNM (+0.49 pp) &gt; Extended (+0.37 pp) &gt; Random (+0.12 pp) &gt; Baseline. Difficulty ranking matters.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640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960120"/>
            <a:ext cx="6309360" cy="5486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9436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234440"/>
            <a:ext cx="10515600" cy="1005840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325880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Use EfficientNetB0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64792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B8D4"/>
                </a:solidFill>
                <a:latin typeface="Calibri"/>
              </a:rPr>
              <a:t>97.8% flood recall vs 80.4% for ResNet50 — same accuracy masks 9× more missed floods.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59436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514600"/>
            <a:ext cx="10515600" cy="1005840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606040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Use PR-AUC as primary metric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44952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B8D4"/>
                </a:solidFill>
                <a:latin typeface="Calibri"/>
              </a:rPr>
              <a:t>3.6-pt gap = 56 missed floods in one validation set. Accuracy and ROC-AUC actively mislead.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94760"/>
            <a:ext cx="59436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794760"/>
            <a:ext cx="10515600" cy="1005840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886200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Phase-1 HNM reduces confounder FPs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325112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B8D4"/>
                </a:solidFill>
                <a:latin typeface="Calibri"/>
              </a:rPr>
              <a:t>Strict ordering: P1-HNM (+0.49 pp) &gt; Extended (+0.37 pp) &gt; Random (+0.12 pp) &gt; Baseline.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74919"/>
            <a:ext cx="59436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5074919"/>
            <a:ext cx="10515600" cy="1005840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166359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River remains the hard problem; pool data is too sparse to conclude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605271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B8D4"/>
                </a:solidFill>
                <a:latin typeface="Calibri"/>
              </a:rPr>
              <a:t>River: 9.2% FP [3.8, 17.7]. Pool "zero" at N=28 → CI upper bound 12.3%.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Outstanding questions &amp; future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91440" cy="987552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1615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Expand water-confounder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Target N ≥ 300 river images; expand pool/lake sets to N ≥ 100.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Current N=76 river images give wide CIs; deployment decisions cannot be made at N=28 pools.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21991"/>
            <a:ext cx="11430000" cy="987552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221991"/>
            <a:ext cx="91440" cy="987552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951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Per-category confidence intervals as deployment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79191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Flag any category with FP rate upper CI &gt; 5% as requiring additional data before deployment.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Clopper-Pearson CIs should be standard reporting for all category-level evaluations.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00984"/>
            <a:ext cx="114300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300984"/>
            <a:ext cx="91440" cy="987552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7413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Iterative HNM across training phases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58183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P1-HNM was applied once. Iterative mining at multiple checkpoints may compound gains.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Investigate optimal mining fraction (current: 10%) and augmentation factor (current: 5×).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79976"/>
            <a:ext cx="11430000" cy="987552"/>
          </a:xfrm>
          <a:prstGeom prst="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379976"/>
            <a:ext cx="91440" cy="987552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45312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Temporal and geographic generalisation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37176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Dataset is Pinellas County, FL. Evaluate on post-Helene imagery and other coastal geographies.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Confounder distribution will differ — rivers vs estuaries vs retention ponds.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58968"/>
            <a:ext cx="114300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458968"/>
            <a:ext cx="91440" cy="987552"/>
          </a:xfrm>
          <a:prstGeom prst="rect">
            <a:avLst/>
          </a:prstGeom>
          <a:solidFill>
            <a:srgbClr val="2E7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532120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Threshold calibration per deployment context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16168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Τ=0.5 default threshold. For high-stakes recall-first scenarios, calibrate threshold</a:t>
            </a:r>
          </a:p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on held-out deployment data using PR curve operating point selection.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640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Acknowledgments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1143000"/>
            <a:ext cx="6309360" cy="5486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594360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27048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BB8D4"/>
                </a:solidFill>
                <a:latin typeface="Calibri"/>
              </a:rPr>
              <a:t>•  CRIS-HAZARD platform team for the curated street-level imagery dataset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10698480" cy="594360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04288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BB8D4"/>
                </a:solidFill>
                <a:latin typeface="Calibri"/>
              </a:rPr>
              <a:t>•  University of South Florida, School of Geosciences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71800"/>
            <a:ext cx="10698480" cy="594360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81528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BB8D4"/>
                </a:solidFill>
                <a:latin typeface="Calibri"/>
              </a:rPr>
              <a:t>•  Open-source contributors: PyTorch, HuggingFace Datasets, python-pptx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10698480" cy="594360"/>
          </a:xfrm>
          <a:prstGeom prst="rect">
            <a:avLst/>
          </a:prstGeom>
          <a:solidFill>
            <a:srgbClr val="224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BB8D4"/>
                </a:solidFill>
                <a:latin typeface="Calibri"/>
              </a:rPr>
              <a:t>•  Reviewers at Computers &amp; Geosciences for constructive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  <a:latin typeface="Calibri"/>
              </a:rPr>
              <a:t>Funding: [Grant agency / award number]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9BB8D4"/>
                </a:solidFill>
                <a:latin typeface="Calibri"/>
              </a:rPr>
              <a:t>Data and code: github.com/[username]/flood-detection-hnm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640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mbria"/>
              </a:rPr>
              <a:t>Q &amp; A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017520"/>
            <a:ext cx="7589520" cy="640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07B39"/>
                </a:solidFill>
                <a:latin typeface="Cambria"/>
              </a:rPr>
              <a:t>Key numbers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555555"/>
                </a:solidFill>
                <a:latin typeface="Calibri"/>
              </a:rPr>
              <a:t>EfficientNet recall: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97.8%  vs  ResNet50 80.4%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8404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555555"/>
                </a:solidFill>
                <a:latin typeface="Calibri"/>
              </a:rPr>
              <a:t>PR-AUC gap: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3.6 pp  =  56 missed floods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555555"/>
                </a:solidFill>
                <a:latin typeface="Calibri"/>
              </a:rPr>
              <a:t>River FP rate: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617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9.2%  [3.8%, 17.7%]  (N=76)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617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555555"/>
                </a:solidFill>
                <a:latin typeface="Calibri"/>
              </a:rPr>
              <a:t>HNM accuracy gain: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4617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+0.49 pp &gt; Extended +0.37 pp &gt; Random +0.12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