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A5C"/>
                </a:solidFill>
                <a:latin typeface="Cambria"/>
              </a:rPr>
              <a:t>Confounder-Robust Flood Detection from Street-Level Imagery
via Phase-1 Hard Negative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A020"/>
                </a:solidFill>
                <a:latin typeface="Calibri"/>
              </a:rPr>
              <a:t>When Rivers Look Like Floods — and Why Standard Metrics Miss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29000"/>
            <a:ext cx="5029200" cy="4114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611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Calibri"/>
              </a:rPr>
              <a:t>Aanya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1421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6070"/>
                </a:solidFill>
                <a:latin typeface="Calibri"/>
              </a:rPr>
              <a:t>Advised by Dr. Dixon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165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6070"/>
                </a:solidFill>
                <a:latin typeface="Calibri"/>
              </a:rPr>
              <a:t>University of South Florida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188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April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The problem: floods are hard to detect because visual confounders mimic flood imagery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Rivers, pools, and wet roads share water texture, color, and reflections with real flood scenes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Why real-time screening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19202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975104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libri"/>
              </a:rPr>
              <a:t>58 million people/year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482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exposed to floods globally, 2000–2018 (Tellman 2021)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19202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24912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libri"/>
              </a:rPr>
              <a:t>Hours to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798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satellite revisit cycles — too slow for dispatch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38144"/>
            <a:ext cx="19202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474720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libri"/>
              </a:rPr>
              <a:t>Citizen photos arrive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547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smartphone images precede official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87952"/>
            <a:ext cx="19202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224528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libri"/>
              </a:rPr>
              <a:t>Recall-first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297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missing a flood = delayed response; a false alarm = wasted 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417320"/>
            <a:ext cx="22860" cy="51663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8132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What makes classification hard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938528"/>
            <a:ext cx="109728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River scenes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677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Share water texture, reflections, murky color — the #1 confounder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688336"/>
            <a:ext cx="109728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Swimming pools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Clear water with similar edge patterns; small N limits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438144"/>
            <a:ext cx="109728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438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Wet / rain roads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67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Surface reflections and standing water resembling shallow floods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187952"/>
            <a:ext cx="109728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87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Parks after 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171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Waterlogged grass and paths trigger flood classifiers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989320"/>
            <a:ext cx="11521440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08076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 prior work reports per-category false positive rates with confidence intervals across confounder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Standard metrics hide recall failures — accuracy rewards non-flood correctness, not flood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The accuracy paradox: ResNet50 scores higher accuracy than EfficientNetB0 while missing 9× more floods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566160" cy="5166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Accuracy paradox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29968"/>
            <a:ext cx="3291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ResNet50 accuracy: 98.5%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EfficientNetB0 accuracy: 98.3%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437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→ ResNet appears better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9125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387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But ResNet misses 63/322 floods.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862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EfficientNet misses only 7/322.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336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811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Non-flood images (497) outnumber floods (322).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28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Getting non-floods right inflates accuracy.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1417320"/>
            <a:ext cx="3566160" cy="516636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ROC-AUC is misleading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2029968"/>
            <a:ext cx="329184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148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Receiver Operating Characteristic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24963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AUC (ROC-AUC) treats all non-flood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28437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images equally.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19125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5387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ROC gap: 0.9985 vs. 0.9728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8862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= only 2.6 points — 'nearly as good'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2336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45811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Large non-flood class inflates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928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the true-negative rate artificially.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38" y="1417320"/>
            <a:ext cx="3566160" cy="516636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198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Cambria"/>
              </a:rPr>
              <a:t>PR-AUC is the right metric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198" y="2029968"/>
            <a:ext cx="3291840" cy="228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198" y="21488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Precision-Recall AUC (PR-AUC)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198" y="24963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focuses on the flood (minority) class.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8" y="28437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8" y="319125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PR-AUC gap: 0.9976 vs. 0.9614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198" y="35387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= 3.6 points — reveals collapse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198" y="38862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8" y="42336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Penalizes precision drop 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8" y="45811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high recall — exactly what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198" y="4928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for a recall-first screener.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Four research questions guide this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658368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mbria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0700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mbria"/>
              </a:rPr>
              <a:t>Metric validity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Does PR-AUC reveal recall failures that accuracy and ROC-AUC conceal for imbalanced flood/non-flood data?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993392"/>
            <a:ext cx="91440" cy="2926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99339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Motivates metric choice before all else.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300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87168"/>
            <a:ext cx="658368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78608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mbria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8716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mbria"/>
              </a:rPr>
              <a:t>Architecture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346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Which architecture — EfficientNetB0 (5.3M params) or ResNet50 (25.6M params) — better supports recall-first flood screening?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273552"/>
            <a:ext cx="91440" cy="2926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7355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Drives model selection for subsequent mining experiments.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114300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67328"/>
            <a:ext cx="658368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58768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mbria"/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67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mbria"/>
              </a:rPr>
              <a:t>Confounder profiling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148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Which specific non-flood categories produce false positives, and at what rate with 95% confidence intervals?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553712"/>
            <a:ext cx="91440" cy="2926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5371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Identifies where hard negative mining should be targeted.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37760"/>
            <a:ext cx="114300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047488"/>
            <a:ext cx="658368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38928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mbria"/>
              </a:rPr>
              <a:t>RQ4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04748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mbria"/>
              </a:rPr>
              <a:t>Mining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949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Does Phase-1 Hard Negative Mining (P1-HNM) outperform extended training and random confounder injection?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5833872"/>
            <a:ext cx="91440" cy="2926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3387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Tests whether difficulty ranking adds value beyond compute or data quantity alone.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217920"/>
            <a:ext cx="1143000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Solution: EfficientNetB0 with Phase-1 Hard Negative Mining achieves 98.78% accuracy with measured confounder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Two-phase fine-tuning + difficulty-ranked mining on Phase-1 checkpoint outperforms all ablations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2148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020"/>
                </a:solidFill>
                <a:latin typeface="Calibri"/>
              </a:rPr>
              <a:t>RQ1 answered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mbria"/>
              </a:rPr>
              <a:t>PR-AUC = 0.9976 vs. 0.9614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DE"/>
                </a:solidFill>
                <a:latin typeface="Calibri"/>
              </a:rPr>
              <a:t>3.6-pt gap exposes ResNet's recall collapse — invisible in accuracy (98.5% vs. 98.3%) and ROC-AUC (2.6-pt gap).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577840" cy="2148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020"/>
                </a:solidFill>
                <a:latin typeface="Calibri"/>
              </a:rPr>
              <a:t>RQ2 answered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mbria"/>
              </a:rPr>
              <a:t>EfficientNetB0 is the right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23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DE"/>
                </a:solidFill>
                <a:latin typeface="Calibri"/>
              </a:rPr>
              <a:t>7 missed floods vs. ResNet's 63. Errors are symmetric boundary cases, not systematic miscalibration.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577840" cy="214884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020"/>
                </a:solidFill>
                <a:latin typeface="Calibri"/>
              </a:rPr>
              <a:t>RQ3 answered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mbria"/>
              </a:rPr>
              <a:t>River is the only significant confounder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DE"/>
                </a:solidFill>
                <a:latin typeface="Calibri"/>
              </a:rPr>
              <a:t>9.2% FP rate (7/76, CI [3.8%–17.7%]). All 7 other categories: 0% FP. Pools: 0% but underpowered.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657600"/>
            <a:ext cx="5577840" cy="214884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020"/>
                </a:solidFill>
                <a:latin typeface="Calibri"/>
              </a:rPr>
              <a:t>RQ4 answered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60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mbria"/>
              </a:rPr>
              <a:t>P1-HNM strictly outperforms all ablations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6634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DE"/>
                </a:solidFill>
                <a:latin typeface="Calibri"/>
              </a:rPr>
              <a:t>Accuracy: 98.78% &gt; Extended 98.66% &gt; Random 98.41% &gt; Baseline 98.29%. River FP unchanged — power-limited.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325880"/>
            <a:ext cx="22860" cy="457200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Dataset: 4,099 street-level images from two labeled sources, deduplicated by SHA-256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USF FloodingDataset (flood severity + non-flood categories) + RIWA river images (Wagner et al. 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49240" cy="3931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A020"/>
                </a:solidFill>
                <a:latin typeface="Cambria"/>
              </a:rPr>
              <a:t>USF FloodingDataset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29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Flood images (severity labeled):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Major    —  796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Moderate — 301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Minor    — 516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Total flood:  1,613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67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Non-flood (7 categories):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Street, Animal, Building, Vehicle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9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Plant, Park/Walkway, Swimming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57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Total non-flood:  2,087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5349240" cy="393192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087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A020"/>
                </a:solidFill>
                <a:latin typeface="Cambria"/>
              </a:rPr>
              <a:t>RIWA River Dataset  (Wagner et al. 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29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River scene images — water confounder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77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399 river images added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European river monitoring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72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Enriches the hardest confounder 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198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67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Label:  Non-flood / River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Combined non-flood total:  2,486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68112"/>
            <a:ext cx="11475720" cy="114300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41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4,099 unique images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55 duplicates removed (SHA-256 hash)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541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80/20 stratified split  ·  seed 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943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3,280 train  |  819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541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39.3% flood prevalence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943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Same ratio maintained in both splits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Method: two-phase progressive fine-tuning preserves ImageNet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Phase 1 → checkpoint M1 (hard negative mining source)  ·  Phase 2 → checkpoint M2 (final model)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020"/>
                </a:solidFill>
                <a:latin typeface="Cambria"/>
              </a:rPr>
              <a:t>EfficientNetB0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DE"/>
                </a:solidFill>
                <a:latin typeface="Calibri"/>
              </a:rPr>
              <a:t>5.3M parameters  —  primary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9496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020"/>
                </a:solidFill>
                <a:latin typeface="Cambria"/>
              </a:rPr>
              <a:t>ResNet50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DE"/>
                </a:solidFill>
                <a:latin typeface="Calibri"/>
              </a:rPr>
              <a:t>25.6M parameters  —  comparison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5394960" cy="283464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020"/>
                </a:solidFill>
                <a:latin typeface="Cambria"/>
              </a:rPr>
              <a:t>Phase 1  →  Checkpoint M1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5120640" cy="22860"/>
          </a:xfrm>
          <a:prstGeom prst="rect">
            <a:avLst/>
          </a:prstGeom>
          <a:solidFill>
            <a:srgbClr val="CC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71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Last 30 layers trainable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Learning rate: 1e-4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≤ 15 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Residual uncertainty on confounders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→ mining signal lives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331720"/>
            <a:ext cx="5394960" cy="283464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020"/>
                </a:solidFill>
                <a:latin typeface="Cambria"/>
              </a:rPr>
              <a:t>Phase 2  →  Checkpoint M2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80360"/>
            <a:ext cx="5120640" cy="22860"/>
          </a:xfrm>
          <a:prstGeom prst="rect">
            <a:avLst/>
          </a:prstGeom>
          <a:solidFill>
            <a:srgbClr val="CC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71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First 50 layers frozen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37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Learning rate: 1e-5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≤ 20 epochs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Early ImageNet features preserved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→ final deployed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A020"/>
                </a:solidFill>
                <a:latin typeface="Cambria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85232"/>
            <a:ext cx="11475720" cy="132588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583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Classification head: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35838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Global Average Pooling (GAP)  →  Dropout(0.2)  →  Dense(256, ReLU)  →  BatchNorm  →  Dropout(0.3)  →  Dense(1, sigmoid)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Loss functions evaluated:  Binary Cross-Entropy (BCE)  ·  Focal loss  (γ=2, α=0.25)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Phase-1 Hard Negative Mining (P1-HNM): mine confounders before the signal disappears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Phase-2 converged model gives near-zero probability to all non-flood images — no mining gradient remains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75720" cy="8229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Key insight: use the Phase-1 checkpoint M1 (partially trained, early layers still frozen) while residual uncertainty on rivers and pools still exists — that uncertainty is the mining signal. By Phase 2 the model has overfit its boundary; hard negatives can no longer be identified.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2651760" cy="3931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2505456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532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Identify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90672"/>
            <a:ext cx="2377440" cy="22860"/>
          </a:xfrm>
          <a:prstGeom prst="rect">
            <a:avLst/>
          </a:prstGeom>
          <a:solidFill>
            <a:srgbClr val="CC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Use Phase-1 model 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84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Flag categories with FP &gt;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68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→ River: 9.2%  qualifies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A020"/>
                </a:solidFill>
                <a:latin typeface="Cambr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395728"/>
            <a:ext cx="2651760" cy="3931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47288" y="2505456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532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5420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Rank &amp; Select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090672"/>
            <a:ext cx="2377440" cy="22860"/>
          </a:xfrm>
          <a:prstGeom prst="rect">
            <a:avLst/>
          </a:prstGeom>
          <a:solidFill>
            <a:srgbClr val="CC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Sort flagged images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584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predicted flood 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968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Take top 10% (hardest)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A020"/>
                </a:solidFill>
                <a:latin typeface="Cambria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395728"/>
            <a:ext cx="2651760" cy="3931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19088" y="2505456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532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5420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Augment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090672"/>
            <a:ext cx="2377440" cy="22860"/>
          </a:xfrm>
          <a:prstGeom prst="rect">
            <a:avLst/>
          </a:prstGeom>
          <a:solidFill>
            <a:srgbClr val="CC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5× augmentation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584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selected hard negatives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968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Adds difficulty-weighted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A020"/>
                </a:solidFill>
                <a:latin typeface="Cambria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395728"/>
            <a:ext cx="2651760" cy="3931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90888" y="2505456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2532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5C"/>
                </a:solidFill>
                <a:latin typeface="Cambria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54203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Retrain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3090672"/>
            <a:ext cx="2377440" cy="22860"/>
          </a:xfrm>
          <a:prstGeom prst="rect">
            <a:avLst/>
          </a:prstGeom>
          <a:solidFill>
            <a:srgbClr val="CC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Start from checkpoint M2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3584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Train with enriched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968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5DE"/>
                </a:solidFill>
                <a:latin typeface="Calibri"/>
              </a:rPr>
              <a:t>→ P1-HNM final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1147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Why difficulty ranking matters: random injection ignores which images the model is confused by — ranked selection targets the decision boundary directly.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EfficientNetB0 misses 9× fewer floods than ResNet50 — visible in PR-AUC, hidden in ROC-AUC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PR-AUC gap 3.6 pts vs. ROC-AUC gap 2.6 pts  ·  63 vs. 7 missed floods hidden by the accuracy paradox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9714942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3035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EfficientNetB0 + BCE</a:t>
            </a:r>
          </a:p>
        </p:txBody>
      </p:sp>
      <p:pic>
        <p:nvPicPr>
          <p:cNvPr id="10" name="Picture 9" descr="pr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9714942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53035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ResNet50 + BCE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623560"/>
            <a:ext cx="11521440" cy="100584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669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EfficientNetB0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669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ResNet50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56692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618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PR-AUC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59618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0.9976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9618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0.9614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596188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−3.6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ROC-AUC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62179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0.9985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2179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0.9728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62179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−2.6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Missed floods (FN)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64739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7/322  (2.2%)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4739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63/322  (19.6%)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647395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9× more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72998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672998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98.3%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72998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98.5%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672998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020"/>
                </a:solidFill>
                <a:latin typeface="Calibri"/>
              </a:rPr>
              <a:t>paradox 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EfficientNetB0 makes symmetric boundary errors; ResNet50 collapses systematically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Symmetric 7/7 FN/FP vs. asymmetric 63/17 — tells us which model to target with HNM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029661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327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EfficientNetB0  —  7 FN + 7 FP  (boundary errors)</a:t>
            </a: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6029661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327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libri"/>
              </a:rPr>
              <a:t>ResNet50  —  63 FN + 17 FP  (systematic miscalibration)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80760"/>
            <a:ext cx="11475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EfficientNet's symmetric errors are genuine ambiguous cases. ResNet's 63 false negatives include prototypical clear flood scenes — the decision boundary is miscalibrated. → EfficientNet is the right model to target with HNM.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River scenes cause a 9.2% false positive rate — every other confounder category is 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EfficientNetB0 BCE  ·  95% confidence intervals  ·  N per category shown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ounder_f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68056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8521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Fig: Confounder FP rate heatmap by category and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234440"/>
            <a:ext cx="5212080" cy="1618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075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EfficientNetB0 + BCE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733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River:   9.2%  (7/76, CI [3.8%, 17.7%])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Plant:   2.9%  (1/34, CI [0.1%, 15.3%])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414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All 6 other categories:  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099816"/>
            <a:ext cx="5212080" cy="1216152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1729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ResNet50 + BCE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38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River:   3.9%  (3/76, CI [0.8%, 11.0%])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227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All 7 other categories:  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581144"/>
            <a:ext cx="5212080" cy="161848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6542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Swimming pool (N=28)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0200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• 0% FP — but upper CI = 12.3%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041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• Insufficient sample: 0% ≠ 'robust'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788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• ~150+ images needed for tight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605332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Takeaway: river is the only statistically significant confounder. This justifies targeting rivers specifically in HNM.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Difficulty-ranked Phase-1 mining strictly outperforms extended training and random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Accuracy ordering: P1-HNM 98.78% &gt; Extended 98.66% &gt; Random 98.41% &gt; Baseline 98.29%  ·  EfficientNetB0 BCE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1965960" cy="150876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9784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Baseline
98.29%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3113532"/>
            <a:ext cx="1965960" cy="196138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5129784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Random inject
98.41%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600553"/>
            <a:ext cx="1965960" cy="2474366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5129784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A5C"/>
                </a:solidFill>
                <a:latin typeface="Calibri"/>
              </a:rPr>
              <a:t>Extended train
98.66%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2057400"/>
            <a:ext cx="1965960" cy="3017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80" y="5129784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A020"/>
                </a:solidFill>
                <a:latin typeface="Calibri"/>
              </a:rPr>
              <a:t>P1-HNM
98.78%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691640"/>
            <a:ext cx="411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Val.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057400"/>
            <a:ext cx="969264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9202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1234440"/>
            <a:ext cx="1554480" cy="397763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1298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Gains vs.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1600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+0.49 pp  P1-HNM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1901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+0.37 pp  Extended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2203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+0.12 pp  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505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2807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River FP after HNM: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3108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7/76 = 9.2%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3410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(unchanged)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7124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40142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McNemar test: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43159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p &gt; 0.05 all pairs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4617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Bonferroni corrected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35040"/>
            <a:ext cx="9966960" cy="62179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108192"/>
            <a:ext cx="9692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  <a:latin typeface="Calibri"/>
              </a:rPr>
              <a:t>RESULT (mirrors goal):  1 in 46 EfficientNet floods missed at baseline (7/322, 2.2%). P1-HNM achieves same recall with +0.49 pp accuracy — difficulty ranking strictly beats both alternatives.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0700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PR-AUC is the right metric for recall-first flood screening.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3.6-pt gap (0.9976 vs. 0.9614) is concealed by accuracy (98.3% vs. 98.5%) and nearly hidden in ROC-AUC (2.6 pts).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56816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12848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1284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EfficientNetB0 is the right screener — symmetric boundary errors, not systematic collapse.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7860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7 FN vs. ResNet's 63 FN; errors are genuinely ambiguous cases, not miscalibration.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62656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18688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1868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River is the only category with a statistically significant false positive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8444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9.2% FP (7/76, CI [3.8%, 17.7%]). All 7 other confounder categories: 0% FP.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68496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24528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2452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Phase-1 Hard Negative Mining (P1-HNM) strictly outperforms all ablations.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9028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P1-HNM 98.78% &gt; Extended 98.66% &gt; Random 98.41% &gt; Baseline 98.29%.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74336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230368"/>
            <a:ext cx="50292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035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303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No significant river FP reduction yet — a statistical power problem, not a null result.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9612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76 river validation images gives insufficient power; ~300 images needed to detect a 3–4 pp reduction.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980176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Future directions: statistical power, geographic generalization, and operational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869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Five concrete next steps from the paper's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344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Expand river validation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819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~300 river images needed for 80% power to detect a 3–4 pp FP reduction. Current 76-image set is underpowered.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21992"/>
            <a:ext cx="502920" cy="50292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951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219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Multi-seed robustness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6946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Re-run all experiments across seeds 42, 123, 256, 512, 1024 with bootstrap CIs to verify seed-independence.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44952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09544"/>
            <a:ext cx="5029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8269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0954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Severity-stratified miss rate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5701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Major vs. Minor flood miss rates differ operationally. Report separately — missing a Major flood costs far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32504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197096"/>
            <a:ext cx="502920" cy="502920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702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970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Geographic generalization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445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Dataset is US-centric. Test on South/Southeast Asian and European urban flood imagery to assess transfer.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0056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184648"/>
            <a:ext cx="5029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2578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8464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libri"/>
              </a:rPr>
              <a:t>Threshold calibration for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5321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τ=0.5 is not optimal. Calibrate threshold against operational recall targets (e.g., ≥ 99%) using the PR curve.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07608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164592"/>
            <a:ext cx="15087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ACKNOWLEDGMENTS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  <a:latin typeface="Cambria"/>
              </a:rPr>
              <a:t>Acknowledgments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274552" cy="22860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9144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Calibri"/>
              </a:rPr>
              <a:t>Lab &amp;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Dr. Dixon and the research lab for guidance and support throughout this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04288"/>
            <a:ext cx="9144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Calibri"/>
              </a:rPr>
              <a:t>USF FloodingDataset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Authors of the USF FloodingDataset for the labeled flood severity imagery and non-flood category annotations.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310128"/>
            <a:ext cx="9144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012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Calibri"/>
              </a:rPr>
              <a:t>RIWA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Wagner et al. (2023) for the RIWA river scene dataset used to enrich the water confounder category.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315968"/>
            <a:ext cx="9144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159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Calibri"/>
              </a:rPr>
              <a:t>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6070"/>
                </a:solidFill>
                <a:latin typeface="Calibri"/>
              </a:rPr>
              <a:t>Thank you for your time and attention today.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1147572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A3A5C"/>
                </a:solidFill>
                <a:latin typeface="Cambria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6070"/>
                </a:solidFill>
                <a:latin typeface="Calibri"/>
              </a:rPr>
              <a:t>Aanya Singh  ·  University of South Florida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Advised by Dr. Dixon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