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3A5C"/>
                </a:solidFill>
                <a:latin typeface="Cambria"/>
              </a:rPr>
              <a:t>Improving CRIS-HAZARD: Automated First-Pass Flood Image Screening
via Phase-1 Hard Negative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154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47E00"/>
                </a:solidFill>
                <a:latin typeface="Calibri"/>
              </a:rPr>
              <a:t>When rivers and swimming pools fool the flood classifier — and how to fix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749039"/>
            <a:ext cx="457200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88620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Calibri"/>
              </a:rPr>
              <a:t>Aanya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519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Advised by Dr. Dixon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University of South Florida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April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CRIS-HAZARD: a community-driven flood risk communication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Crowdsourced data → high-fidelity flood models → real-time risk alerts for citizens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Citizens &amp; community
(smartphones, apps,
social media)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9504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9504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Volunteered Geographic
Information (VGI)
&amp; crowdsourced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11496" y="2377440"/>
            <a:ext cx="1965960" cy="105156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1496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CRIS-HAZARD
flood-risk models
(USF / AT&amp;T / ANL)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33488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Uncertainty-aware
risk projections
(short &amp; long term)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273862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55480" y="2377440"/>
            <a:ext cx="1965960" cy="105156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2377440"/>
            <a:ext cx="1965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Decision makers
&amp; community
alerting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4160520"/>
            <a:ext cx="2286000" cy="1097280"/>
          </a:xfrm>
          <a:prstGeom prst="rect">
            <a:avLst/>
          </a:prstGeom>
          <a:solidFill>
            <a:srgbClr val="FFF5E8"/>
          </a:solidFill>
          <a:ln w="9525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7E00"/>
                </a:solidFill>
                <a:latin typeface="Calibri"/>
              </a:rPr>
              <a:t>Challenge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5312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No near-real-time
two-way communication
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8679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0"/>
                </a:solidFill>
                <a:latin typeface="Calibri"/>
              </a:rPr>
              <a:t>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160520"/>
            <a:ext cx="2286000" cy="1097280"/>
          </a:xfrm>
          <a:prstGeom prst="rect">
            <a:avLst/>
          </a:prstGeom>
          <a:solidFill>
            <a:srgbClr val="FFF5E8"/>
          </a:solidFill>
          <a:ln w="9525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7E00"/>
                </a:solidFill>
                <a:latin typeface="Calibri"/>
              </a:rPr>
              <a:t>Challenge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45312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Flood risk models lack
fine spatial &amp; temporal
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8679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0"/>
                </a:solidFill>
                <a:latin typeface="Calibri"/>
              </a:rPr>
              <a:t>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4160520"/>
            <a:ext cx="2286000" cy="1097280"/>
          </a:xfrm>
          <a:prstGeom prst="rect">
            <a:avLst/>
          </a:prstGeom>
          <a:solidFill>
            <a:srgbClr val="FFF5E8"/>
          </a:solidFill>
          <a:ln w="9525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47E00"/>
                </a:solidFill>
                <a:latin typeface="Calibri"/>
              </a:rPr>
              <a:t>Challenge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453128"/>
            <a:ext cx="2286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Uncertainty in models
not quantified for
decision-making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867912"/>
            <a:ext cx="228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0"/>
                </a:solidFill>
                <a:latin typeface="Calibri"/>
              </a:rPr>
              <a:t>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0"/>
                </a:solidFill>
                <a:latin typeface="Calibri"/>
              </a:rPr>
              <a:t>Source: NSF Award — CRIS-HAZARD (USF + Georgia Tech partnership for Pinellas County, FL)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The CRIS-HAZARD gap: no automated first-pass image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Crowdsourced images arrive unfiltered — confounders reach human analysts, creating alert fatigue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6070"/>
                </a:solidFill>
                <a:latin typeface="Cambria"/>
              </a:rPr>
              <a:t>Current CRIS-HAZARD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466344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371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3A5C"/>
                </a:solidFill>
                <a:latin typeface="Cambria"/>
              </a:rPr>
              <a:t>Proposed flow  (this work)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4663440" cy="127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 submits image
(app / social media)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414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715767"/>
            <a:ext cx="3657600" cy="566928"/>
          </a:xfrm>
          <a:prstGeom prst="rect">
            <a:avLst/>
          </a:prstGeom>
          <a:solidFill>
            <a:srgbClr val="FFF0EE"/>
          </a:solidFill>
          <a:ln w="9525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7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All images queued
(no filtering)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826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557015"/>
            <a:ext cx="3657600" cy="566928"/>
          </a:xfrm>
          <a:prstGeom prst="rect">
            <a:avLst/>
          </a:prstGeom>
          <a:solidFill>
            <a:srgbClr val="FFF0EE"/>
          </a:solidFill>
          <a:ln w="9525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57015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Human analyst reviews
(bottleneck ⚠)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239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398263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98263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alert sent
(delayed; noisy)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004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C4444"/>
                </a:solidFill>
                <a:latin typeface="Cambria"/>
              </a:rPr>
              <a:t>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3566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0D8E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874519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874519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Citizen submits image
(app / social media)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44144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715767"/>
            <a:ext cx="3657600" cy="566928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2715767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Automated first-pass
screener  ← THIS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8269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557015"/>
            <a:ext cx="3657600" cy="566928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3557015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→ human review
Non-flood → discarded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1239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398263"/>
            <a:ext cx="3657600" cy="566928"/>
          </a:xfrm>
          <a:prstGeom prst="rect">
            <a:avLst/>
          </a:prstGeom>
          <a:solidFill>
            <a:srgbClr val="E8F5EC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398263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Flood alert sent
(faster; less noise)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035040"/>
            <a:ext cx="11155680" cy="566928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108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5C"/>
                </a:solidFill>
                <a:latin typeface="Calibri"/>
              </a:rPr>
              <a:t>Goal: build a screener that catches ≥ 97% of floods while filtering out rivers, pools, and wet roads.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Visual confounders: 8 non-flood categories share flood-like appearance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River, pool, and wet road images share water texture, reflectance, and urban context with real floods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908" y="1371600"/>
            <a:ext cx="2651760" cy="141732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1428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47E00"/>
                </a:solidFill>
                <a:latin typeface="Calibri"/>
              </a:rPr>
              <a:t>399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 texture, reflections, debris — #1 confounder (9.2% FP rate)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4700" y="1371600"/>
            <a:ext cx="2651760" cy="141732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4428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Swimming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9220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D47E00"/>
                </a:solidFill>
                <a:latin typeface="Calibri"/>
              </a:rPr>
              <a:t>28 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4428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Clear water, edge patterns; small sample limits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2492" y="1371600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Wet / Rain Road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7012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105 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Surface reflections and standing water resemble shallow floods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0284" y="1371600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0012" y="1444752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Park / Walkway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4804" y="14447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82 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0012" y="1719072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Waterlogged grass and paths trigger texture-based classifiers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1428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55 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Contextual co-occurrence with floods; dark backgrounds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4428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Vehicle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9220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50 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4428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Water reflections under vehicles; rain-slicked surfaces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2492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2220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Animal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012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67 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2220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Low-level texture patterns occasionally activate flood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30284" y="3081528"/>
            <a:ext cx="2651760" cy="1417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40012" y="315468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A6070"/>
                </a:solidFill>
                <a:latin typeface="Calibri"/>
              </a:rPr>
              <a:t>Plant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4804" y="315468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4A6070"/>
                </a:solidFill>
                <a:latin typeface="Calibri"/>
              </a:rPr>
              <a:t>34 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0012" y="3429000"/>
            <a:ext cx="2432304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6070"/>
                </a:solidFill>
                <a:latin typeface="Calibri"/>
              </a:rPr>
              <a:t>Dense vegetation with moisture can resemble flooded 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35508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  <a:latin typeface="Calibri"/>
              </a:rPr>
              <a:t>Highlighted = primary confounders targeted by Hard Negative Mining (HNM)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Standard metrics hide recall failure — PR-AUC reveals what ROC-AUC conceals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EfficientNetB0 outperforms ResNet50 on every metric: PR-AUC, recall, and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98448"/>
            <a:ext cx="8390178" cy="3474720"/>
          </a:xfrm>
          <a:prstGeom prst="rect">
            <a:avLst/>
          </a:prstGeom>
        </p:spPr>
      </p:pic>
      <p:pic>
        <p:nvPicPr>
          <p:cNvPr id="6" name="Picture 5" descr="pr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98448"/>
            <a:ext cx="8390178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8280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EfficientNetB0 + BCE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4828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ResNet50 + BCE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5138928"/>
          <a:ext cx="1115568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3017520"/>
                <a:gridCol w="2834640"/>
              </a:tblGrid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EfficientNetB0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ResNet50 (Phase 1, Epoch 8)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Gap / note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PR-AUC (primary ↑)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0.9976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0.9614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−3.6 pts — reveals recall collapse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ROC-AUC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0.9728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−2.6 pts — looks 'nearly as good'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Missed floods (FN ↓)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7 / 322  (2.2%)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63 / 322  (19.6%)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9× more missed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2962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Accuracy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EfficientNet leads on all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Dataset: 4,099 street-level images from two public sources, stratified 80/20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USF FloodingDataset (flood severity + 7 non-flood categories)  +  RIWA river images (Wagner et al. 2023)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mbria"/>
              </a:rPr>
              <a:t>USF FloodingDataset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55648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73736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Flood — Major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796 images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Flood — 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301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Flood — Minor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516 images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Non-flood (7 categories)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2,087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3,700 images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Cambria"/>
              </a:rPr>
              <a:t>RIWA River Dataset  (Wagner et al. 2023)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755648"/>
          <a:ext cx="5212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River scenes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399 images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Water confounder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European river monitoring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Non-flood / 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Combined non-flood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2,486 images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773168"/>
          <a:ext cx="1124712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2834640"/>
                <a:gridCol w="2834640"/>
              </a:tblGrid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Flood prevalence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Confounder categories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4,099 unique
(55 duplicates removed)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3,280 train  |  819 val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39.3% — preserved in
both splits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8 categories labeled
for per-category FP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Two-phase progressive fine-tuning avoids catastrophic forgetting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Phase 1 → head + top layers only (M1 checkpoint)  ·  Phase 2 → deeper layers (M2 checkpoint, deployed)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8660" y="2011680"/>
            <a:ext cx="1920240" cy="137160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6070"/>
                </a:solidFill>
                <a:latin typeface="Calibri"/>
              </a:rPr>
              <a:t>ImageNet
pre-trained
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8900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1508" y="2011680"/>
            <a:ext cx="1920240" cy="137160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1508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Phase 1
Freeze all but
top 30 layers
LR = 1e-3
≤ 30 epochs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1748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34356" y="2011680"/>
            <a:ext cx="1920240" cy="1371600"/>
          </a:xfrm>
          <a:prstGeom prst="rect">
            <a:avLst/>
          </a:prstGeom>
          <a:solidFill>
            <a:srgbClr val="FFF5E8"/>
          </a:solidFill>
          <a:ln w="19050">
            <a:solidFill>
              <a:srgbClr val="D4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4356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7E00"/>
                </a:solidFill>
                <a:latin typeface="Calibri"/>
              </a:rPr>
              <a:t>Checkpoint M1
(mining source)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6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47204" y="2011680"/>
            <a:ext cx="1920240" cy="1371600"/>
          </a:xfrm>
          <a:prstGeom prst="rect">
            <a:avLst/>
          </a:prstGeom>
          <a:solidFill>
            <a:srgbClr val="E8F1F8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7204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Phase 2
Freeze first
50 layers
LR = 1e-4
≤ 50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7444" y="253288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60052" y="2011680"/>
            <a:ext cx="1920240" cy="1371600"/>
          </a:xfrm>
          <a:prstGeom prst="rect">
            <a:avLst/>
          </a:prstGeom>
          <a:solidFill>
            <a:srgbClr val="E8F5EC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0052" y="20116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6070"/>
                </a:solidFill>
                <a:latin typeface="Calibri"/>
              </a:rPr>
              <a:t>Checkpoint M2
(final model)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49039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5876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mbria"/>
              </a:rPr>
              <a:t>Architectures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06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20624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Input 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206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Calibri"/>
              </a:rPr>
              <a:t>Role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98848"/>
            <a:ext cx="11247120" cy="292608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171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EfficientNetB0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5171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5.3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51713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Raw [0, 255] — built-in rescaling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517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Primary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28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ResNet50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828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25.6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82803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ImageNet mean subtraction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6070"/>
                </a:solidFill>
                <a:latin typeface="Calibri"/>
              </a:rPr>
              <a:t>Comparison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85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Loss functions: Binary Cross-Entropy (BCE)  ·  Focal loss (γ = 2.0)  ·  Class weights via compute_class_weight('balanced')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Phase-1 Hard Negative Mining (P1-HNM): target confounders before memorization erases the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By Phase 2, training FP rate → ~0% — no hard negatives remain. Phase 1 checkpoint still shows genuine confusion.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55680" cy="566928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Key insight: Phase 2 memorizes non-flood training images → near-zero FP on train (EfficientNetB0: 0.31% river FP). Phase 1 checkpoint (top 30 layers only) retains genuine uncertainty on rivers and pools — that is the mining signal.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" y="2011680"/>
            <a:ext cx="2468880" cy="2560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①  Identify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Run M1 (Phase 1
checkpoint) on
train non-flood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Flag categories with
FP rate &gt; 5%
→ River: 9.2%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4116" y="312724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8436" y="2011680"/>
            <a:ext cx="2468880" cy="2560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84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②  Rank &amp; Select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255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81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Sort flagged images
by predicted flood
probability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1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Take top 10%
(hardest candidates)
by difficulty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7316" y="312724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2011680"/>
            <a:ext cx="2468880" cy="2560320"/>
          </a:xfrm>
          <a:prstGeom prst="rect">
            <a:avLst/>
          </a:prstGeom>
          <a:solidFill>
            <a:srgbClr val="F2F6F9"/>
          </a:solidFill>
          <a:ln w="9525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③  Augment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87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13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5× augmentation
on selected hard
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13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Adds difficulty-
weighted non-flood
examples to train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0516" y="3127248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A607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4836" y="2011680"/>
            <a:ext cx="2468880" cy="2560320"/>
          </a:xfrm>
          <a:prstGeom prst="rect">
            <a:avLst/>
          </a:prstGeom>
          <a:solidFill>
            <a:srgbClr val="F2F6F9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4836" y="20848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A5C"/>
                </a:solidFill>
                <a:latin typeface="Calibri"/>
              </a:rPr>
              <a:t>④  Retrain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1996" y="2432304"/>
            <a:ext cx="219456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4564" y="252374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Start from M2
(Phase 2 checkpoint)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4564" y="3300984"/>
            <a:ext cx="224942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A6070"/>
                </a:solidFill>
                <a:latin typeface="Calibri"/>
              </a:rPr>
              <a:t>Train with enriched
set → P1-HNM
final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0060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92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Ablation controls (all compared to P1-HNM in final results)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303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Condition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2303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What changes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2303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Calibri"/>
              </a:rPr>
              <a:t>Controls for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04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6070"/>
                </a:solidFill>
                <a:latin typeface="Calibri"/>
              </a:rPr>
              <a:t>P1-HNM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5046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Top 10% hardest negatives by Phase 1 prob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5046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— reference condition 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No injection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779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Retrain same epochs, no extra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57790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Additional training compute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0533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Random injection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60533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Same count, randomly sampled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605332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Category exposure vs. difficulty ranking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EfficientNetB0 misses 9× fewer floods — confusion matrices confirm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 (Epoch 20): Acc 98.3%, Recall 97.8%   ·   ResNet50 (Phase 1, Epoch 8): Acc 90.2%, Recall 80.4%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5204548" cy="3749039"/>
          </a:xfrm>
          <a:prstGeom prst="rect">
            <a:avLst/>
          </a:prstGeom>
        </p:spPr>
      </p:pic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98448"/>
            <a:ext cx="5204548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09320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3A5C"/>
                </a:solidFill>
                <a:latin typeface="Calibri"/>
              </a:rPr>
              <a:t>EfficientNetB0 BCE  —  7 FN + 7 FP  —  Acc: 98.3%,  Recall: 97.8%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509320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7E00"/>
                </a:solidFill>
                <a:latin typeface="Calibri"/>
              </a:rPr>
              <a:t>ResNet50 BCE  —  63 FN + 17 FP  —  Acc: 90.2%,  Recall: 80.4%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5394960"/>
            <a:ext cx="1152144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EfficientNetB0 errors are symmetric boundary cases (ambiguous river/flood scenes).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247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ResNet50 (Phase 1, Epoch 8) shows recall collapse — 63 clear flood scenes miscalibrated as non-flood.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1733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→ EfficientNetB0 is the right architecture for HNM retraining.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River is the only confounder — all other 7 categories are 0% FP across every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Per-category FP rate (%) — Val set, seed 42, τ = 0.5  ·  Heatmap covers all 6 trained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ounder_f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224" y="1325880"/>
            <a:ext cx="6012504" cy="4114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557784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743200"/>
                <a:gridCol w="4663440"/>
              </a:tblGrid>
              <a:tr h="15675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River FP 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All other categories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5675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A3A5C"/>
                          </a:solidFill>
                          <a:latin typeface="Calibri"/>
                        </a:rPr>
                        <a:t>EfficientNet BCE Baseline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9.2%  (7 / 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0% across all 7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15675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A3A5C"/>
                          </a:solidFill>
                          <a:latin typeface="Calibri"/>
                        </a:rPr>
                        <a:t>EfficientNet BCE HNM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9.2%  (7 / 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0% across all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75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A3A5C"/>
                          </a:solidFill>
                          <a:latin typeface="Calibri"/>
                        </a:rPr>
                        <a:t>Ext. Training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6.6%  (5 / 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0% across all 7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15675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A3A5C"/>
                          </a:solidFill>
                          <a:latin typeface="Calibri"/>
                        </a:rPr>
                        <a:t>Random Inject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9.2%  (7 / 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0% across all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754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A3A5C"/>
                          </a:solidFill>
                          <a:latin typeface="Calibri"/>
                        </a:rPr>
                        <a:t>ResNet50 BCE Baseline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3.9%  (3 / 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0% across all 7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15675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A3A5C"/>
                          </a:solidFill>
                          <a:latin typeface="Calibri"/>
                        </a:rPr>
                        <a:t>ResNet50 BCE HNM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5.3%  (4 / 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4A6070"/>
                          </a:solidFill>
                          <a:latin typeface="Calibri"/>
                        </a:rPr>
                        <a:t>0% across all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Difficulty-ranked Phase-1 mining achieves best accuracy — all conditions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EfficientNetB0 BCE  ·  Val set (seed 42)  ·  Full metrics for every ablation condition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81328"/>
          <a:ext cx="10927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554480"/>
                <a:gridCol w="1417320"/>
                <a:gridCol w="2240280"/>
                <a:gridCol w="1737360"/>
                <a:gridCol w="173736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Val Accuracy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Flood Recall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Missed Floods (FN)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River FP 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vs. Baseline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BCE Baseline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98.29%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97.8%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7 / 322  (2.2%)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9.2%  (7/76)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Random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5 / 322  (1.6%)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9.2%  (7/76)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+0.12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A3A5C"/>
                          </a:solidFill>
                          <a:latin typeface="Calibri"/>
                        </a:rPr>
                        <a:t>Extended training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98.66%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99.0%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3 / 322  (0.9%)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6.6%  (5/76)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4A6070"/>
                          </a:solidFill>
                          <a:latin typeface="Calibri"/>
                        </a:rPr>
                        <a:t>+0.37 pp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P1-HNM  ★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98.78%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98.6%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5 / 322  (1.6%)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9.2%  (7/76)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7D32"/>
                          </a:solidFill>
                          <a:latin typeface="Calibri"/>
                        </a:rPr>
                        <a:t>+0.49 pp</a:t>
                      </a:r>
                    </a:p>
                  </a:txBody>
                  <a:tcPr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4297680"/>
          <a:ext cx="113842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45820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Best accuracy → P1-HNM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98.78% accuracy (top 10% hardest river negatives, difficulty-ranked by Phase 1 probability)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Best recall → Extended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99.0% flood recall, only 3 missed floods — extra compute helps recall even without difficulty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River FP rate → Extended reduces to 6.6%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Only extended training shows river FP improvement; HNM and random injection unchanged at 9.2%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A3A5C"/>
                          </a:solidFill>
                          <a:latin typeface="Calibri"/>
                        </a:rPr>
                        <a:t>Statistical significance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4A6070"/>
                          </a:solidFill>
                          <a:latin typeface="Calibri"/>
                        </a:rPr>
                        <a:t>McNemar's test (Bonferroni-corrected): p &gt; 0.05 for all pairs; N=76 river val images insufficient for tight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Conclusion: four takeaways for deploying flood screeners in CRIS-HAZARD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024128"/>
          </a:xfrm>
          <a:prstGeom prst="rect">
            <a:avLst/>
          </a:prstGeom>
          <a:solidFill>
            <a:srgbClr val="E8F1F8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38912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PR-AUC is the right metric for recall-first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3.6-pt PR-AUC gap between models is invisible in accuracy (98.3% vs 98.5%) and nearly invisible in ROC-AUC (2.6 pts). PR-AUC penalizes precision collapse at high recall.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1024128"/>
          </a:xfrm>
          <a:prstGeom prst="rect">
            <a:avLst/>
          </a:prstGeom>
          <a:solidFill>
            <a:srgbClr val="F2F6F9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438912" cy="10241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EfficientNetB0 is the right screener — symmetric errors, not systematic collapse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7 missed floods vs. ResNet50's 63. EfficientNet's errors are genuine boundary cases; ResNet's 63 FN include prototypical clear flood scenes.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1024128"/>
          </a:xfrm>
          <a:prstGeom prst="rect">
            <a:avLst/>
          </a:prstGeom>
          <a:solidFill>
            <a:srgbClr val="E8F1F8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438912" cy="1024128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8444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38328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River is the only statistically significant confounder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4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9.2% FP rate (7/76, CI [3.8%, 17.7%]). All 7 other categories: 0% FP. Swimming pool is underpowered (N=28, upper CI = 12.3%).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11247120" cy="1024128"/>
          </a:xfrm>
          <a:prstGeom prst="rect">
            <a:avLst/>
          </a:prstGeom>
          <a:solidFill>
            <a:srgbClr val="F2F6F9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438912" cy="1024128"/>
          </a:xfrm>
          <a:prstGeom prst="rect">
            <a:avLst/>
          </a:prstGeom>
          <a:solidFill>
            <a:srgbClr val="4A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81728"/>
            <a:ext cx="438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8056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Phase-1 HNM strictly outperforms both ablations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P1-HNM 98.78% &gt; Extended 98.66% &gt; Random 98.41% &gt; Baseline 98.29%. Difficulty ranking adds value beyond compute or data quantity alone.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Five concrete next steps to deploy CRIS-HAZARD flood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From statistical power to geographic generalization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47672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62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Expand river validation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63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~300 river images for 80% power to detect a 3–4 pp FP reduction. Current 76-image set is underpowered.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52344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67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39112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Multi-seed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68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Re-run all experiments across 5 seeds with bootstrap CIs to verify seed-independence of HNM gains.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52344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57016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437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Severity-stratified miss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729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Major vs. Minor flood miss rates have different operational costs. Report separately.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4845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Geographic generalization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Dataset is US-centric. Test on South/Southeast Asian and European urban flood imagery.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61688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811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45312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Operational threshold calibration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823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τ=0.5 is not optimal. Calibrate against ≥ 99% recall target using the PR curve on a held-out test set.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Cambria"/>
              </a:rPr>
              <a:t>Acknowledgments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98448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Dr. Dixon — guidance and support throughout this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24912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93392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USF FloodingDataset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Dataset authors — labeled flood severity imagery and non-flood category annotations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29584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4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RIWA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907792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Wagner et al. (2023) — river scene images enriching the water confounder 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9584"/>
            <a:ext cx="112471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334256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02736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CRIS-HAZARD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12464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NSF-funded collaboration: USF, Georgia Tech, AT&amp;T, Argonne National Laboratory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34256"/>
            <a:ext cx="11247120" cy="8046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138928"/>
            <a:ext cx="11247120" cy="1270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07408"/>
            <a:ext cx="25603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Calibri"/>
              </a:rPr>
              <a:t>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517136"/>
            <a:ext cx="8275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6070"/>
                </a:solidFill>
                <a:latin typeface="Calibri"/>
              </a:rPr>
              <a:t>Thank you for your time and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50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D8E0"/>
                </a:solidFill>
                <a:latin typeface="Calibri"/>
              </a:rPr>
              <a:t>Aanya Singh  ·  University of South Florida  ·  April 18,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