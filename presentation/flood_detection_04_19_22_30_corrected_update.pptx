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3A5C"/>
                </a:solidFill>
                <a:latin typeface="Cambria"/>
              </a:rPr>
              <a:t>Improving CRIS-HAZARD: Automated First-Pass Flood Image Screening
via Phase-1 Hard Negative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47E00"/>
                </a:solidFill>
                <a:latin typeface="Calibri"/>
              </a:rPr>
              <a:t>When rivers and swimming pools fool the flood classifier — and how to fix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749039"/>
            <a:ext cx="457200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Aanya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5196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Advised by Dr. Dixon and Michael Hancock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University of South Florida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April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The CRIS-HAZARD gap: no automated first-pass image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Crowdsourced images arrive unfiltered — confounders reach human analysts, creating alert fatigue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6070"/>
                </a:solidFill>
                <a:latin typeface="Cambria"/>
              </a:rPr>
              <a:t>Current CRIS-HAZARD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4663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mbria"/>
              </a:rPr>
              <a:t>Proposed flow  (this 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466344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 submits image
(app / social media)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414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715767"/>
            <a:ext cx="3657600" cy="566928"/>
          </a:xfrm>
          <a:prstGeom prst="rect">
            <a:avLst/>
          </a:prstGeom>
          <a:solidFill>
            <a:srgbClr val="FFF0EE"/>
          </a:solidFill>
          <a:ln w="9525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All images queued
(no filtering)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826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557015"/>
            <a:ext cx="3657600" cy="566928"/>
          </a:xfrm>
          <a:prstGeom prst="rect">
            <a:avLst/>
          </a:prstGeom>
          <a:solidFill>
            <a:srgbClr val="FFF0EE"/>
          </a:solidFill>
          <a:ln w="9525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57015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Human analyst reviews
(bottleneck 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239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398263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98263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alert sent
(delayed; noisy)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0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4444"/>
                </a:solidFill>
                <a:latin typeface="Cambria"/>
              </a:rPr>
              <a:t>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3566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0D8E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874519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87451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 submits image
(app / social media)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4414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715767"/>
            <a:ext cx="3657600" cy="566928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71576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Automated first-pass
screener  ← THIS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826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557015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557015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→ human review
Non-flood → discarded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239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398263"/>
            <a:ext cx="3657600" cy="566928"/>
          </a:xfrm>
          <a:prstGeom prst="rect">
            <a:avLst/>
          </a:prstGeom>
          <a:solidFill>
            <a:srgbClr val="E8F5EC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398263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alert sent
(faster; less noise)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035040"/>
            <a:ext cx="11155680" cy="566928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Goal: build a screener that catches ≥ 97% of floods while filtering out rivers and pools.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Visual confounders: 8 non-flood categories share flood-like appearance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River, pool, and rain images share water texture, reflectance, and urban context with real floods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908" y="1371600"/>
            <a:ext cx="2651760" cy="141732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1428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47E00"/>
                </a:solidFill>
                <a:latin typeface="Calibri"/>
              </a:rPr>
              <a:t>76 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 texture, reflections, debris — #1 confounder (9.2% FP rate, 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4700" y="1371600"/>
            <a:ext cx="2651760" cy="141732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4428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Swimming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9220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47E00"/>
                </a:solidFill>
                <a:latin typeface="Calibri"/>
              </a:rPr>
              <a:t>28 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4428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Clear water; N=28 too small for robust conclusions (CI upper = 12.3%)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1371600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Rainy Roads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012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105 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Surface reflections and standing water resemble shallow floods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0284" y="1371600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0012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Park / Walkway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4804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82 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0012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Waterlogged grass and paths trigger texture-based classifiers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1428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55 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Contextual co-occurrence with floods; dark backgrounds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4428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Vehicle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9220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50 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4428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 reflections under vehicles; rain-slicked surfaces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2492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2220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Animal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012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67 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2220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Low-level texture patterns occasionally activate flood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0284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0012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4804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34 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0012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Dense vegetation with moisture; 1 FP observed (N too small for conclusions)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  <a:latin typeface="Calibri"/>
              </a:rPr>
              <a:t>Highlighted = primary confounders targeted by Hard Negative Mining (HNM)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Dataset: 4,099 street-level images from two public sources, 80/20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USF Flooding Dataset (flood severity + 7 non-flood categories)  +  RIWA river images (Wagner et al.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mbria"/>
              </a:rPr>
              <a:t>USF Flooding Dataset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55648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7373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Flood — Major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796 images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Flood —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301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Flood — Minor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516 images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Non-flood (7 categories)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2,087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3,700 images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mbria"/>
              </a:rPr>
              <a:t>RIWA River Dataset  (Wagner et al. 2023)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55648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River scenes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399 images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Water confounder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European river monitoring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Non-flood / 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Combined non-flood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2,486 images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773168"/>
          <a:ext cx="1124712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2834640"/>
                <a:gridCol w="2834640"/>
              </a:tblGrid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Flood prevalence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Confounder categories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4,099 unique
(55 duplicates removed)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3,280 train  |  819 val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39.3% — preserved in
both splits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8 categories labeled
for per-category FP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Two-phase progressive fine-tuning avoids catastrophic forgetting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Phase 1 → head + top layers only (M1 checkpoint)  ·  Phase 2 → deeper layers (M2 checkpoint, deployed)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8660" y="2011680"/>
            <a:ext cx="1920240" cy="137160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ImageNet
pre-trained
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900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1508" y="2011680"/>
            <a:ext cx="1920240" cy="137160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1508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Phase 1
Freeze all but
top 30 layers
LR = 1e-3
≤ 30 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748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4356" y="2011680"/>
            <a:ext cx="1920240" cy="1371600"/>
          </a:xfrm>
          <a:prstGeom prst="rect">
            <a:avLst/>
          </a:prstGeom>
          <a:solidFill>
            <a:srgbClr val="FFF5E8"/>
          </a:solidFill>
          <a:ln w="1905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4356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7E00"/>
                </a:solidFill>
                <a:latin typeface="Calibri"/>
              </a:rPr>
              <a:t>Checkpoint M1
(mining source)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47204" y="2011680"/>
            <a:ext cx="1920240" cy="137160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7204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Phase 2
Freeze first
50 layers
LR = 1e-4
≤ 50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7444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0052" y="2011680"/>
            <a:ext cx="1920240" cy="1371600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0052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6070"/>
                </a:solidFill>
                <a:latin typeface="Calibri"/>
              </a:rPr>
              <a:t>Checkpoint M2
(final baseline)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587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mbria"/>
              </a:rPr>
              <a:t>Architectures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062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Input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98848"/>
            <a:ext cx="11247120" cy="2926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171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EfficientNetB0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517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5.3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171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Raw [0, 255] — built-in rescaling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171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Primary (chosen for HNM)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ResNet50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25.6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8280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ImageNet mean subtraction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828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Comparison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85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Loss functions: Binary Cross-Entropy (BCE)  ·  Focal loss (γ = 2.0)  ·  Class weights via compute_class_weight('balanced')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Phase-1 Hard Negative Mining: target confounders before memorization erases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Phase 2 memorizes training images → near-zero FP → no mining signal. Phase 1 checkpoint retains genuine confusion.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FFF5E8"/>
          </a:solidFill>
          <a:ln w="1270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KEY INSIGHT:  By Phase 2, EfficientNetB0 fits all non-flood training images — river FP rate on train drops to 0.31%. Mining from Phase 2 produces an empty candidate list. The Phase 1 checkpoint (head + top 30 layers only) still confuses rivers with floods — that confusion IS the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1993392"/>
            <a:ext cx="2423160" cy="23317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" y="1993392"/>
            <a:ext cx="24231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① Identify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" y="2395728"/>
            <a:ext cx="2203704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" y="24688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Run M1 (Phase 1
checkpoint) on all
train non-flood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" y="3328416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Flag categories with
FP rate &gt; 5%
→ River: 9.2%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9836" y="299466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4156" y="1993392"/>
            <a:ext cx="2423160" cy="23317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4156" y="1993392"/>
            <a:ext cx="24231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4156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② Rank &amp; Select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3884" y="2395728"/>
            <a:ext cx="2203704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5596" y="24688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Sort flagged images
by predicted flood
probability (Phase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5596" y="3328416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Take top 20%
(hardest candidates)
by difficulty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7316" y="299466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1993392"/>
            <a:ext cx="2423160" cy="23317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1993392"/>
            <a:ext cx="24231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1636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③ Augment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1364" y="2395728"/>
            <a:ext cx="2203704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3076" y="24688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5× augmentation
on selected hard
negatives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3328416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Adds difficulty-ranked
non-flood examples
to training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4796" y="2994660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29116" y="1993392"/>
            <a:ext cx="2423160" cy="2331720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29116" y="1993392"/>
            <a:ext cx="24231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29116" y="20299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④ Retrain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38844" y="2395728"/>
            <a:ext cx="2203704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0556" y="24688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Start from M2
(fully converged
Phase 2 checkpoint)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0556" y="3328416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Train with enriched
set → P1-HNM
final model 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98848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90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Ablation controls (all compared to P1-HNM in final results)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937760"/>
          <a:ext cx="111556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120640"/>
                <a:gridCol w="4023360"/>
              </a:tblGrid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Controls for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P1-HNM ★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Top 20% hardest negatives by Phase 1 probability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— reference condition 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No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Retrain same epoch budget, no additional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Additional training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Random injection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Same count, randomly sampled from river category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Category exposure vs. difficulty ranking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Baseline comparison: both models are strong — EfficientNet selected for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 BCE (Epoch 20) vs ResNet50 BCE (Epoch 8)  ·  Val set, n=819, τ = 0.5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8448"/>
            <a:ext cx="4506378" cy="3246120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98448"/>
            <a:ext cx="4506378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9943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EfficientNetB0 BCE  —  7 FN  ·  7 FP  ·  Recall 97.8%  (1 in 46 missed)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99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6070"/>
                </a:solidFill>
                <a:latin typeface="Calibri"/>
              </a:rPr>
              <a:t>ResNet50 BCE  —  9 FN  ·  3 FP  ·  Recall 97.2%  (1 in 36 missed)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873752"/>
            <a:ext cx="11521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4983480"/>
          <a:ext cx="1124712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3200400"/>
                <a:gridCol w="2468880"/>
              </a:tblGrid>
              <a:tr h="2621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EfficientNetB0 BCE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ResNet50 BCE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PR-AUC ↑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0.9976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0.9991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ResNet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ROC-AUC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Flood Recall ↑  (τ=0.5)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97.8%  (7 FN, 1 in 46)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97.2%  (9 FN, 1 in 36)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EfficientNet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Overall Accuracy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River FP rate 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9.2%  (7/76)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3.9%  (3/76)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ResNet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6455664"/>
            <a:ext cx="11521440" cy="292608"/>
          </a:xfrm>
          <a:prstGeom prst="rect">
            <a:avLst/>
          </a:prstGeom>
          <a:solidFill>
            <a:srgbClr val="E8F1F8"/>
          </a:solidFill>
          <a:ln w="952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  <a:latin typeface="Calibri"/>
              </a:rPr>
              <a:t>Decision: ResNet leads on AUC and precision. EfficientNet leads only on recall at τ=0.5 (7 FN vs 9 FN). Recall-first objective → EfficientNet selected for Phase-1 Hard Negative Mining.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River is the only persistent confounder — all other 7 categories at 0% FP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Per-category FP rate (%) · Val set, seed 42, τ=0.5 · 5 conditions shown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ounder_f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71" y="1325880"/>
            <a:ext cx="5177214" cy="3931920"/>
          </a:xfrm>
          <a:prstGeom prst="rect">
            <a:avLst/>
          </a:prstGeom>
        </p:spPr>
      </p:pic>
      <p:pic>
        <p:nvPicPr>
          <p:cNvPr id="6" name="Picture 5" descr="confounder_f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7083267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440680"/>
            <a:ext cx="11521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" y="5577840"/>
            <a:ext cx="2788920" cy="1051560"/>
          </a:xfrm>
          <a:prstGeom prst="rect">
            <a:avLst/>
          </a:prstGeom>
          <a:solidFill>
            <a:srgbClr val="E8F1F8"/>
          </a:solidFill>
          <a:ln w="9525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" y="561441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River FP (EffNet BCE)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" y="58521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9.2%  (7/76)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" y="61996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6070"/>
                </a:solidFill>
                <a:latin typeface="Calibri"/>
              </a:rPr>
              <a:t>CI: [3.8%, 17.7%]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1548" y="5577840"/>
            <a:ext cx="2788920" cy="1051560"/>
          </a:xfrm>
          <a:prstGeom prst="rect">
            <a:avLst/>
          </a:prstGeom>
          <a:solidFill>
            <a:srgbClr val="E8F5EC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1548" y="561441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Calibri"/>
              </a:rPr>
              <a:t>River FP (P1-HNM 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1548" y="58521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Cambria"/>
              </a:rPr>
              <a:t>5.3%  (4/76)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1548" y="61996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6070"/>
                </a:solidFill>
                <a:latin typeface="Calibri"/>
              </a:rPr>
              <a:t>Best condition — river alarm reduced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8484" y="5577840"/>
            <a:ext cx="2788920" cy="105156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8484" y="561441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Swimming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8484" y="58521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7E00"/>
                </a:solidFill>
                <a:latin typeface="Cambria"/>
              </a:rPr>
              <a:t>0.0%  (0/28)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8484" y="61996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6070"/>
                </a:solidFill>
                <a:latin typeface="Calibri"/>
              </a:rPr>
              <a:t>⚠ N=28: upper CI = 12.3% — underpowered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5420" y="5577840"/>
            <a:ext cx="278892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4A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5420" y="561441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A6070"/>
                </a:solidFill>
                <a:latin typeface="Calibri"/>
              </a:rPr>
              <a:t>All other 6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5420" y="58521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A6070"/>
                </a:solidFill>
                <a:latin typeface="Cambria"/>
              </a:rP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5420" y="619963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6070"/>
                </a:solidFill>
                <a:latin typeface="Calibri"/>
              </a:rPr>
              <a:t>Tight CIs — robustly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Difficulty-ranked Phase-1 mining achieves best accuracy AND best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EfficientNetB0 BCE  ·  Val set, seed 42  ·  Full metrics for every ablation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81328"/>
          <a:ext cx="10927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554480"/>
                <a:gridCol w="1417320"/>
                <a:gridCol w="2240280"/>
                <a:gridCol w="1737360"/>
                <a:gridCol w="1737360"/>
              </a:tblGrid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 Accuracy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Flood Recall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Missed Floods (FN)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River FP 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vs. Baseline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BCE Baseline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98.29%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97.8%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7 / 322  (1 in 46)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9.2%  (7/76)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Random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6 / 322  (1 in 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9.2%  (7/76)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+0.12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Extended training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98.66%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98.1%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6 / 322  (1 in 54)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6.6%  (5/76)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+0.37 pp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P1-HNM  ★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98.78%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3 / 322  (1 in 107)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5.3%  (4/76)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+0.49 pp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977639"/>
          <a:ext cx="11384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4582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P1-HNM wins on accuracy AND recall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98.78% accuracy + only 3 missed floods (1 in 107) — best on both dimensions simultaneously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Why HNM &gt; Extended training 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HNM targets hard-case floods: FN drops 7→3, improving recall to 99.1%. Extended training reduces river FP (9.2%→6.6%) but FN stays at 6. 10 total errors (HNM) &lt; 11 errors (Extended) → better accuracy.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River FP: Extended training beats HNM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Extended training reduces river FP 9.2%→6.6%. P1-HNM keeps river FP at 5.3% (better than baseline 9.2% but not as low as Extended). HNM redirects capacity toward flood recall instead of FP reduction.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Statistical significance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McNemar's test (Bonferroni-corrected): p &gt; 0.05 for all pairs. N=76 river val images → ~30% power. Need ~300 river images for 80% power to confirm FP reduction.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Closing the CRIS-HAZARD gap: automated first-pass screening is now viable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EfficientNetB0 + P1-HNM fills the bottleneck identified in Slide 2 — with concrete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" y="1463040"/>
            <a:ext cx="3383280" cy="150876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A5C"/>
                </a:solidFill>
                <a:latin typeface="Cambria"/>
              </a:rPr>
              <a:t>1 in 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floods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" y="24505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P1-HNM misses only
3 of 322 val floods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2836" y="1463040"/>
            <a:ext cx="3383280" cy="1508760"/>
          </a:xfrm>
          <a:prstGeom prst="rect">
            <a:avLst/>
          </a:prstGeom>
          <a:solidFill>
            <a:srgbClr val="F2F6F9"/>
          </a:solidFill>
          <a:ln w="19050">
            <a:solidFill>
              <a:srgbClr val="4A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2836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A6070"/>
                </a:solidFill>
                <a:latin typeface="Cambria"/>
              </a:rPr>
              <a:t>5.3%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2836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6070"/>
                </a:solidFill>
                <a:latin typeface="Calibri"/>
              </a:rPr>
              <a:t>river false 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2836" y="24505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Rivers: only confounder
with non-zero FP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3588" y="1463040"/>
            <a:ext cx="3383280" cy="1508760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3588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Cambria"/>
              </a:rPr>
              <a:t>98.78%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3588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screening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3588" y="24505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Best across all ablation
conditions (EfficientNetB0 + P1-HNM)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375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mbria"/>
              </a:rPr>
              <a:t>Pathway to CRIS-HAZARD 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11247120" cy="65836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67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mbri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75818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Deploy EfficientNetB0 + P1-HNM as automated first-pass screener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3250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Flag all images with p̂(flood) ≥ τ for human review; discard the rest — closes the analyst bottleneck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61688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2005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mbria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416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Calibrate τ for ≥ 99% recall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908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PR-curve threshold sweep on val set was completed; calibrate operational τ on held-out citizen data for ≥ 99% recall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0056"/>
            <a:ext cx="11247120" cy="65836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67842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846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mbria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749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Expand river validation set to ~300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349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Current 76-image river val set gives ~30% statistical power; 300 images → 80% power to confirm FP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636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0"/>
                </a:solidFill>
                <a:latin typeface="Calibri"/>
              </a:rPr>
              <a:t>This closes the gap from Slide 2: automated screening eliminates the unfiltered analyst bottleneck, catching all but 1 in 107 floods before any human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Conclusion: four takeaways for deploying flood screeners in CRIS-HAZARD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024128"/>
          </a:xfrm>
          <a:prstGeom prst="rect">
            <a:avLst/>
          </a:prstGeom>
          <a:solidFill>
            <a:srgbClr val="E8F1F8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38912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Both baselines are strong — the difference is recall at τ=0.5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EfficientNet: PR-AUC=0.9976, 7 FN (1 in 46 missed), 7 FP. ResNet: PR-AUC=0.9991, 9 FN (1 in 36 missed), 3 FP. ResNet leads on AUC and precision; EfficientNet leads on recall. Neither model fails catastrophically.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1024128"/>
          </a:xfrm>
          <a:prstGeom prst="rect">
            <a:avLst/>
          </a:prstGeom>
          <a:solidFill>
            <a:srgbClr val="F2F6F9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438912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EfficientNet is the right architecture for HNM — fewer missed floods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7 FN vs. ResNet's 9 FN at τ=0.5. The recall-first screening objective (missed flood = unescalated real event) makes EfficientNet's 2 extra correctly-caught floods decisive for HNM targeting.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1024128"/>
          </a:xfrm>
          <a:prstGeom prst="rect">
            <a:avLst/>
          </a:prstGeom>
          <a:solidFill>
            <a:srgbClr val="E8F1F8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438912" cy="102412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8444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River is the only persistent confounder — all other 7 categories at 0% 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4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EfficientNet BCE baseline: river 9.2% FP (7/76, CI [3.8%, 17.7%]). Plant: 1 FP / 34 images (N too small). Swimming pool: 0% but CI upper = 12.3% (N=28 — underpowered). Mining effort correctly targets river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1024128"/>
          </a:xfrm>
          <a:prstGeom prst="rect">
            <a:avLst/>
          </a:prstGeom>
          <a:solidFill>
            <a:srgbClr val="F2F6F9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438912" cy="102412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8172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Phase-1 HNM wins on both accuracy AND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P1-HNM: 98.78% accuracy + 3 missed floods (1 in 107) + river FP 5.3% (4/76). Difficulty ranking cuts FN 7→3 while extended training only achieves 7→6. HNM improves recall through targeted hard-case examples — not just additional compute.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Five concrete next steps to deploy CRIS-HAZARD flood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From statistical power to geographic generalization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47672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62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Expand river validation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63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~300 river images for 80% power to detect a 3–4 pp FP reduction. Current 76-image set is underpowered (~30% power).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5234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39112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Multi-seed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68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Re-run all experiments across 5 seeds with bootstrap CIs to verify seed-independence of HNM gains.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2344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5701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437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Severity-stratified miss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Major vs. Minor flood miss rates carry different operational costs. P1-HNM achieves 1 in 107 overall — report by severity.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4845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Geographic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Dataset is US-centric. Test on South/Southeast Asian and European urban flood imagery before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81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45312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Operational threshold 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823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PR-curve threshold sweep was run on val set (recall-preserving range ≥ 95% identified). Next: calibrate τ against ≥ 99% recall target on held-out citizen data for operational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Acknowledgments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Advisors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98448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Dr. Dixon and Michael Hancock — guidance and support throughout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USF FloodingDataset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Dataset authors — labeled flood severity imagery and non-flood category annotations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2958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4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RIWA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07792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Wagner et al. (2023) — river scene images enriching the water confounder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9584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3425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02736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CRIS-HAZARD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12464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NSF-funded collaboration: USF, Georgia Tech, AT&amp;T, Argonne National Laboratory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34256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07408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17136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Thank you for your time and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D8E0"/>
                </a:solidFill>
                <a:latin typeface="Calibri"/>
              </a:rPr>
              <a:t>Aanya Singh  ·  University of South Florida  ·  April 19,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