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9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10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DF3AB-B729-054F-A35C-767DBC2ABC9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8622D-B700-B84B-9088-2652D3C4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2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8622D-B700-B84B-9088-2652D3C462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5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716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3A5C"/>
                </a:solidFill>
                <a:latin typeface="Cambria"/>
              </a:rPr>
              <a:t>Improving CRIS-HAZARD: Automated First-Pass Flood Image Screening
via Phase-1 Hard Negative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47E00"/>
                </a:solidFill>
                <a:latin typeface="Calibri"/>
              </a:rPr>
              <a:t>When rivers and swimming pools fool the flood classifier — and how to fix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749039"/>
            <a:ext cx="457200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Aanya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519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Advised by Dr. Dixon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University of South Florida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April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CRIS-HAZARD: a community-driven flood risk communication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Crowdsourced data → high-fidelity flood models → real-time risk alerts for citizens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Citizens &amp; community
(smartphones, apps,
social media)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9504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9504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Volunteered Geographic
Information (VGI)
&amp; crowdsourced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1496" y="2377440"/>
            <a:ext cx="1965960" cy="105156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1496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CRIS-HAZARD
flood-risk models
(USF / AT&amp;T / ANL)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33488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Uncertainty-aware
risk projections
(short &amp; long term)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Decision makers
&amp; community
alerting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160520"/>
            <a:ext cx="2286000" cy="109728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Challenge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No near-real-time
two-way communication
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679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0"/>
                </a:solidFill>
                <a:latin typeface="Calibri"/>
              </a:rPr>
              <a:t>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160520"/>
            <a:ext cx="2286000" cy="109728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Challenge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5312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Flood risk models lack
fine spatial &amp; temporal
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8679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0"/>
                </a:solidFill>
                <a:latin typeface="Calibri"/>
              </a:rPr>
              <a:t>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4160520"/>
            <a:ext cx="2286000" cy="109728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Challenge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45312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Uncertainty in models
not quantified for
decision-making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8679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0"/>
                </a:solidFill>
                <a:latin typeface="Calibri"/>
              </a:rPr>
              <a:t>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0"/>
                </a:solidFill>
                <a:latin typeface="Calibri"/>
              </a:rPr>
              <a:t>Source: NSF Award — CRIS-HAZARD (USF + Georgia Tech partnership for Pinellas County, FL)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The CRIS-HAZARD gap: no automated first-pass image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Crowdsourced images arrive unfiltered — confounders reach human analysts, creating alert fatigue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6070"/>
                </a:solidFill>
                <a:latin typeface="Cambria"/>
              </a:rPr>
              <a:t>Current CRIS-HAZARD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4663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mbria"/>
              </a:rPr>
              <a:t>Proposed flow  (this 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466344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 submits image
(app / social media)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414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715767"/>
            <a:ext cx="3657600" cy="566928"/>
          </a:xfrm>
          <a:prstGeom prst="rect">
            <a:avLst/>
          </a:prstGeom>
          <a:solidFill>
            <a:srgbClr val="FFF0EE"/>
          </a:solidFill>
          <a:ln w="9525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All images queued
(no filtering)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826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557015"/>
            <a:ext cx="3657600" cy="566928"/>
          </a:xfrm>
          <a:prstGeom prst="rect">
            <a:avLst/>
          </a:prstGeom>
          <a:solidFill>
            <a:srgbClr val="FFF0EE"/>
          </a:solidFill>
          <a:ln w="9525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557015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4A6070"/>
                </a:solidFill>
                <a:latin typeface="Calibri"/>
              </a:rPr>
              <a:t>Human analyst reviews
(bottleneck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239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398263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398263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alert sent
(delayed; noisy)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0400"/>
            <a:ext cx="6080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CC4444"/>
                </a:solidFill>
                <a:latin typeface="Cambria"/>
              </a:rPr>
              <a:t>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3566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0D8E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874519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87451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 submits image
(app / social media)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4414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715767"/>
            <a:ext cx="3657600" cy="566928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271576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Automated first-pass
screener  ← THIS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826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557015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557015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→ human review
Non-flood → discarded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239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398263"/>
            <a:ext cx="3657600" cy="566928"/>
          </a:xfrm>
          <a:prstGeom prst="rect">
            <a:avLst/>
          </a:prstGeom>
          <a:solidFill>
            <a:srgbClr val="E8F5EC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4398263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alert sent
(faster; less noise)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035040"/>
            <a:ext cx="11155680" cy="566928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Goal: build a screener that catches ≥ 97% of floods while filtering out rivers, pools, and wet roads.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Visual confounders: 8 non-flood categories share flood-like appearance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River, pool, and wet road images share water texture, reflectance, and urban context with real floods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6908" y="1371600"/>
            <a:ext cx="2651760" cy="141732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6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5637" y="1444752"/>
            <a:ext cx="834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>
                <a:solidFill>
                  <a:srgbClr val="D47E00"/>
                </a:solidFill>
                <a:latin typeface="Calibri"/>
              </a:rPr>
              <a:t>399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 texture, reflections, debris — #1 confounder (9.2% FP 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4700" y="1371600"/>
            <a:ext cx="2651760" cy="141732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4428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Swimming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9220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47E00"/>
                </a:solidFill>
                <a:latin typeface="Calibri"/>
              </a:rPr>
              <a:t>28 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4428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Clear water, edge patterns; small sample limits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1371600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2220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Wet / Rain Road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012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105 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Surface reflections and standing water resemble shallow floods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0284" y="1371600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40012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Park / Walkway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4804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82 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0012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Waterlogged grass and paths trigger texture-based classifiers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1428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55 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Contextual co-occurrence with floods; dark backgrounds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4428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Vehicle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9220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50 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4428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 reflections under vehicles; rain-slicked surfaces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2492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2220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Animal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012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67 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2220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Low-level texture patterns occasionally activate flood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0284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40012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4804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34 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0012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Dense vegetation with moisture can resemble flooded 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  <a:latin typeface="Calibri"/>
              </a:rPr>
              <a:t>Highlighted = primary confounders targeted by Hard Negative Mining (HNM)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" y="228600"/>
            <a:ext cx="120319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A3A5C"/>
                </a:solidFill>
                <a:latin typeface="Cambria"/>
              </a:rPr>
              <a:t>Standard metrics hide recall failure — PR-AUC reveals what ROC-AUC conceals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A6070"/>
                </a:solidFill>
                <a:latin typeface="Calibri"/>
              </a:rPr>
              <a:t>ResNet50 accuracy (98.5%) exceeds EfficientNetB0 (98.3%) yet misses 9× more floods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r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69364"/>
            <a:ext cx="5144504" cy="2130552"/>
          </a:xfrm>
          <a:prstGeom prst="rect">
            <a:avLst/>
          </a:prstGeom>
        </p:spPr>
      </p:pic>
      <p:pic>
        <p:nvPicPr>
          <p:cNvPr id="6" name="Picture 5" descr="pr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653" y="1883476"/>
            <a:ext cx="5542387" cy="2295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8280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EfficientNetB0 + BCE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828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ResNet50 + BCE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138928"/>
            <a:ext cx="1143000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2852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2852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EfficientNetB0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285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ResNet50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285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Gap / 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559552"/>
            <a:ext cx="11430000" cy="3108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PR-AUC (primary 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7E00"/>
                </a:solidFill>
                <a:latin typeface="Calibri"/>
              </a:rPr>
              <a:t>0.9976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577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0.9614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577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−3.6 pts  ← reveals collapse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887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ROC-AUC 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888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0.9985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88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0.9728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888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−2.6 pts  ← looks 'nearly as good'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181344"/>
            <a:ext cx="11430000" cy="3108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Missed floods (FN ↓)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199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7E00"/>
                </a:solidFill>
                <a:latin typeface="Calibri"/>
              </a:rPr>
              <a:t>7 / 322  (2.2%)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6199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63 / 322  (19.6%)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6199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9× more missed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Accuracy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510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98.3%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98.5%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6510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Paradox: higher ≠ better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9142"/>
            <a:ext cx="12313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A3A5C"/>
                </a:solidFill>
                <a:latin typeface="Cambria"/>
              </a:rPr>
              <a:t>Dataset: 4,099 street-level images from two public sources, stratified 80/20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USF FloodingDataset (flood severity + 7 non-flood categories)  +  RIWA river images (Wagner et al.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029200" cy="320040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mbria"/>
              </a:rPr>
              <a:t>USF FloodingDataset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7548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4937760" cy="32918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A6070"/>
                </a:solidFill>
                <a:latin typeface="Calibri"/>
              </a:rPr>
              <a:t>Flood — Major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796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Flood — 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301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4937760" cy="32918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615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Flood — Minor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15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516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62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Non-flood (7 categories)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62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2,087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91840"/>
            <a:ext cx="4937760" cy="32918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310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10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A5C"/>
                </a:solidFill>
                <a:latin typeface="Calibri"/>
              </a:rPr>
              <a:t>3,700 images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4447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mbria"/>
              </a:rPr>
              <a:t>RIWA River Dataset  (Wagner et al. 2023)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828800"/>
            <a:ext cx="47548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46520" y="1901952"/>
            <a:ext cx="4937760" cy="32918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River scenes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399 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Water confounder category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596896"/>
            <a:ext cx="4937760" cy="32918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615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European river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962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Label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962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A3A5C"/>
                </a:solidFill>
                <a:latin typeface="Calibri"/>
              </a:rPr>
              <a:t>Non-flood / River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291840"/>
            <a:ext cx="4937760" cy="32918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3310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Combined non-flood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310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A5C"/>
                </a:solidFill>
                <a:latin typeface="Calibri"/>
              </a:rPr>
              <a:t>2,486 images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0916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55848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80 / 20 stratified split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5193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3,280 train  |  819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08776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39.3% flood prevalence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5193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Preserved in both splits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Two-phase progressive fine-tuning avoids catastrophic forgetting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Phase 1 → head + top layers only (M1 checkpoint)  ·  Phase 2 → deeper layers (M2 checkpoint, deployed)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8660" y="2011680"/>
            <a:ext cx="1920240" cy="137160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660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ImageNet
pre-trained
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900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1508" y="2011680"/>
            <a:ext cx="1920240" cy="137160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1508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Phase 1
Freeze all but
top 30 layers
LR = 1e-3
≤ 30 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748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4356" y="2011680"/>
            <a:ext cx="1920240" cy="1371600"/>
          </a:xfrm>
          <a:prstGeom prst="rect">
            <a:avLst/>
          </a:prstGeom>
          <a:solidFill>
            <a:srgbClr val="FFF5E8"/>
          </a:solidFill>
          <a:ln w="1905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34356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7E00"/>
                </a:solidFill>
                <a:latin typeface="Calibri"/>
              </a:rPr>
              <a:t>Checkpoint M1
(mining source)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47204" y="2011680"/>
            <a:ext cx="1920240" cy="137160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7204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Phase 2
Freeze first
50 layers
LR = 1e-4
≤ 50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7444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0052" y="2011680"/>
            <a:ext cx="1920240" cy="1371600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60052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6070"/>
                </a:solidFill>
                <a:latin typeface="Calibri"/>
              </a:rPr>
              <a:t>Checkpoint M2
(final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8587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mbria"/>
              </a:rPr>
              <a:t>Architectures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062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Input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98848"/>
            <a:ext cx="11247120" cy="2926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5171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EfficientNetB0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517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5.3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171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Raw [0, 255] — built-in rescaling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17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Primary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ResNet50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25.6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8280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ImageNet mean subtraction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Comparison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85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Loss functions: Binary Cross-Entropy (BCE)  ·  Focal loss (γ = 2.0)  ·  Class weights via compute_class_weight('balanced')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9212"/>
            <a:ext cx="12188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A3A5C"/>
                </a:solidFill>
                <a:latin typeface="Cambria"/>
              </a:rPr>
              <a:t>Phase-1 Hard Negative Mining (P1-HNM): target confounders before memorization erases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239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By Phase 2, training FP rate → ~0% — no hard negatives remain. Phase 1 checkpoint still shows genuine confusion.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4A6070"/>
                </a:solidFill>
                <a:latin typeface="Calibri"/>
              </a:rPr>
              <a:t>Key insight: Phase 2 memorizes non-flood training images → near-zero FP on train (EfficientNetB0: 0.31% river FP). Phase 1 checkpoint (top 30 layers only) retains genuine uncertainty on rivers and pools — that is the mining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" y="2011680"/>
            <a:ext cx="2468880" cy="2560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①  Identify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Run M1 (Phase 1
checkpoint) on
train non-flood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Flag categories with
FP rate &gt; 5%
→ River: 9.2%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4116" y="312724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8436" y="2011680"/>
            <a:ext cx="2468880" cy="2560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84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②  Rank &amp; Select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55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81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Sort flagged images
by predicted flood
probability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1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Take top 10%
(hardest candidates)
by difficulty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7316" y="312724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2011680"/>
            <a:ext cx="2468880" cy="2560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16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③  Augment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13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5× augmentation
on selected hard
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Adds difficulty-
weighted non-flood
examples to train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0516" y="312724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4836" y="2011680"/>
            <a:ext cx="2468880" cy="2560320"/>
          </a:xfrm>
          <a:prstGeom prst="rect">
            <a:avLst/>
          </a:prstGeom>
          <a:solidFill>
            <a:srgbClr val="F2F6F9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48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④  Retrain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19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45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Start from M2
(Phase 2 checkpoint)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45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Train with enriched
set → P1-HNM
final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0060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Ablation controls (all compared to P1-HNM in final results)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30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Condition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303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What changes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303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Controls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504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6070"/>
                </a:solidFill>
                <a:latin typeface="Calibri"/>
              </a:rPr>
              <a:t>P1-HNM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5046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Top 10% hardest negatives by Phase 1 prob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5046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— reference condition 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No injection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779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Retrain same epochs, no extra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7790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Additional training compute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6053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Random injection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60533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Same count, randomly sampled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60533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Category exposure vs. difficulty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339" y="54864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A3A5C"/>
                </a:solidFill>
                <a:latin typeface="Cambria"/>
              </a:rPr>
              <a:t>EfficientNetB0 misses 9× fewer floods — visible in PR-AUC, hidden in accuracy and ROC-AUC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A6070"/>
                </a:solidFill>
                <a:latin typeface="Calibri"/>
              </a:rPr>
              <a:t>PR-AUC gap = 3.6 pts  ·  ROC-AUC gap = 2.6 pts  ·  Accuracy paradox: 98.3% vs 98.5%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204548" cy="3749039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98448"/>
            <a:ext cx="5204548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09320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EfficientNetB0 BCE  —  7 FN + 7 FP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09320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7E00"/>
                </a:solidFill>
                <a:latin typeface="Calibri"/>
              </a:rPr>
              <a:t>ResNet50 BCE  —  63 FN + 17 FP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394960"/>
            <a:ext cx="11521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EfficientNetB0 errors are symmetric boundary cases (ambiguous river/flood scenes).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247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ResNet50's 63 false negatives include prototypical clear flood scenes — systematic miscalibration, not ambiguity.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173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→ EfficientNetB0 is the right architecture for HNM retraining.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A3A5C"/>
                </a:solidFill>
                <a:latin typeface="Cambria"/>
              </a:rPr>
              <a:t>River causes a 9.2% false positive rate — all 7 other confounder categories are 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EfficientNetB0 BCE  ·  95% Clopper-Pearson confidence intervals  ·  Val set, N per category shown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ounder_f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792874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2984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mbria"/>
              </a:rPr>
              <a:t>Per-category FP rate  (EfficientNetB0 BCE, val)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645920"/>
            <a:ext cx="525780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755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Calibri"/>
              </a:rPr>
              <a:t>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556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Calibri"/>
              </a:rPr>
              <a:t>N 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556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Calibri"/>
              </a:rPr>
              <a:t>FP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556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  <a:latin typeface="Calibri"/>
              </a:rPr>
              <a:t>95%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29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02996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2996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7E00"/>
                </a:solidFill>
                <a:latin typeface="Calibri"/>
              </a:rPr>
              <a:t>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2996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[3.8%, 17.7%]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286000"/>
            <a:ext cx="534924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3042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Plant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042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0428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2.9%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0428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[0.1%, 15.3%]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Swimming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57860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7860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57860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upper CI = 12.3% 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34640"/>
            <a:ext cx="534924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Animal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85292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529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8529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upper CI = 5.4%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127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Building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1272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1272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1272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upper CI = 6.5%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383280"/>
            <a:ext cx="534924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3401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4A6070"/>
                </a:solidFill>
                <a:latin typeface="Calibri"/>
              </a:rPr>
              <a:t>Park/Walkway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40156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0156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40156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upper CI = 4.4%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6758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Street (clear)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6758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105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67588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67588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upper CI = 3.5%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931920"/>
            <a:ext cx="534924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29400" y="3950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395020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95020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395020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upper CI = 7.1%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431596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D47E00"/>
                </a:solidFill>
                <a:latin typeface="Calibri"/>
              </a:rPr>
              <a:t>⚠  0% FP on 28 swimming pool images ≠ robust — upper CI = 12.3%. ~150 images needed for a tight bound.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Difficulty-ranked Phase-1 mining strictly outperforms extended training and random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EfficientNetB0 BCE  ·  Val set  ·  Accuracy ordering: P1-HNM &gt; Extended &gt; Random &gt;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35608"/>
            <a:ext cx="11612880" cy="5486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813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Val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8132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Flood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FN (missed floods)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4813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River FP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4813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vs.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84248"/>
            <a:ext cx="1161288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002536"/>
            <a:ext cx="11612880" cy="5394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02082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6070"/>
                </a:solidFill>
                <a:latin typeface="Calibri"/>
              </a:rPr>
              <a:t>BCE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208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98.29%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20824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97.8%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0208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7 / 322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2082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02082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560320"/>
            <a:ext cx="1161288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5786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6070"/>
                </a:solidFill>
                <a:latin typeface="Calibri"/>
              </a:rPr>
              <a:t>Random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5786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98.41%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57860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786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5786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578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+0.12 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18104"/>
            <a:ext cx="11612880" cy="5394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1363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6070"/>
                </a:solidFill>
                <a:latin typeface="Calibri"/>
              </a:rPr>
              <a:t>Extended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1363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98.66%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13639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1363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1363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13639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070"/>
                </a:solidFill>
                <a:latin typeface="Calibri"/>
              </a:rPr>
              <a:t>+0.37 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675888"/>
            <a:ext cx="11612880" cy="539496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1480" y="3675888"/>
            <a:ext cx="73152" cy="5394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69417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P1-HNM  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6941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98.78%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69417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6941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69417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A3A5C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369417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+0.49 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251960"/>
            <a:ext cx="116128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44531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★  P1-HNM = Phase-1 Hard Negative Mining (top 10% hardest river images by Phase 1 flood probability).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7640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McNemar's test (Bonferroni corrected): p &gt; 0.05 for all pairwise comparisons — improvements are consistent across seeds.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07492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River FP rate unchanged (9.2%) after HNM — insufficient statistical power at N=76; ~300 river val images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Conclusion: four takeaways for deploying flood screeners in CRIS-HAZARD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024128"/>
          </a:xfrm>
          <a:prstGeom prst="rect">
            <a:avLst/>
          </a:prstGeom>
          <a:solidFill>
            <a:srgbClr val="E8F1F8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38912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PR-AUC is the right metric for recall-first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3.6-pt PR-AUC gap between models is invisible in accuracy (98.3% vs 98.5%) and nearly invisible in ROC-AUC (2.6 pts). PR-AUC penalizes precision collapse at high recall.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1024128"/>
          </a:xfrm>
          <a:prstGeom prst="rect">
            <a:avLst/>
          </a:prstGeom>
          <a:solidFill>
            <a:srgbClr val="F2F6F9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438912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EfficientNetB0 is the right screener — symmetric errors, not systematic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7 missed floods vs. ResNet50's 63. EfficientNet's errors are genuine boundary cases; ResNet's 63 FN include prototypical clear flood scenes.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1024128"/>
          </a:xfrm>
          <a:prstGeom prst="rect">
            <a:avLst/>
          </a:prstGeom>
          <a:solidFill>
            <a:srgbClr val="E8F1F8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438912" cy="102412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8444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River is the only statistically significant confounder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4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9.2% FP rate (7/76, CI [3.8%, 17.7%]). All 7 other categories: 0% FP. Swimming pool is underpowered (N=28, upper CI = 12.3%).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1024128"/>
          </a:xfrm>
          <a:prstGeom prst="rect">
            <a:avLst/>
          </a:prstGeom>
          <a:solidFill>
            <a:srgbClr val="F2F6F9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438912" cy="102412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68172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Phase-1 HNM strictly outperforms both ablations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P1-HNM 98.78% &gt; Extended 98.66% &gt; Random 98.41% &gt; Baseline 98.29%. Difficulty ranking adds value beyond compute or data quantity alone.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Five concrete next steps to deploy CRIS-HAZARD flood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From statistical power to geographic generalization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47672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62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Expand river validation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63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~300 river images for 80% power to detect a 3–4 pp FP reduction. Current 76-image set is underpowered.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75234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39112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Multi-seed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68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Re-run all experiments across 5 seeds with bootstrap CIs to verify seed-independence of HNM gains.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2344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55701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437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Severity-stratified miss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Major vs. Minor flood miss rates have different operational costs. Report separately.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4845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Geographic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Dataset is US-centric. Test on South/Southeast Asian and European urban flood imagery.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581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45312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Operational threshold 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823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τ=0.5 is not optimal. Calibrate against ≥ 99% recall target using the PR curve on a held-out test 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Acknowledgments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98448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Dr. Dixon — guidance and support throughout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USF FloodingDataset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Dataset authors — labeled flood severity imagery and non-flood category annotations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52958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4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RIWA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07792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Wagner et al. (2023) — river scene images enriching the water confounder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9584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33425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602736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CRIS-HAZARD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12464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NSF-funded collaboration: USF, Georgia Tech, AT&amp;T, Argonne National Laboratory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34256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407408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17136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Thank you for your time and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D8E0"/>
                </a:solidFill>
                <a:latin typeface="Calibri"/>
              </a:rPr>
              <a:t>Aanya Singh  ·  University of South Florida  ·  April 18,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1808</Words>
  <Application>Microsoft Macintosh PowerPoint</Application>
  <PresentationFormat>Custom</PresentationFormat>
  <Paragraphs>308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(Student) Aanya.S1</cp:lastModifiedBy>
  <cp:revision>3</cp:revision>
  <dcterms:created xsi:type="dcterms:W3CDTF">2013-01-27T09:14:16Z</dcterms:created>
  <dcterms:modified xsi:type="dcterms:W3CDTF">2026-04-19T03:04:41Z</dcterms:modified>
  <cp:category/>
</cp:coreProperties>
</file>